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91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rgbClr val="78787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6D666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rgbClr val="78787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6D666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rgbClr val="78787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rgbClr val="78787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94169" y="7800395"/>
            <a:ext cx="1612673" cy="30514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6523" y="411606"/>
            <a:ext cx="13357352" cy="1339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rgbClr val="78787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8904" y="2289099"/>
            <a:ext cx="6463030" cy="1777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6D666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123559" y="3042666"/>
            <a:ext cx="729424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Employee</a:t>
            </a:r>
            <a:r>
              <a:rPr spc="-204" dirty="0"/>
              <a:t> </a:t>
            </a:r>
            <a:r>
              <a:rPr spc="-145" dirty="0"/>
              <a:t>Salary</a:t>
            </a:r>
            <a:r>
              <a:rPr spc="-175" dirty="0"/>
              <a:t> </a:t>
            </a:r>
            <a:r>
              <a:rPr spc="-10" dirty="0"/>
              <a:t>Prediction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23559" y="4334636"/>
            <a:ext cx="8014334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Building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75" dirty="0">
                <a:solidFill>
                  <a:srgbClr val="6D6666"/>
                </a:solidFill>
                <a:latin typeface="Lucida Sans Unicode"/>
                <a:cs typeface="Lucida Sans Unicode"/>
              </a:rPr>
              <a:t>a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machine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learning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model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accurately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 predict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salaries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using</a:t>
            </a:r>
            <a:r>
              <a:rPr sz="14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workforce</a:t>
            </a:r>
            <a:r>
              <a:rPr sz="14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data.</a:t>
            </a:r>
            <a:endParaRPr sz="145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600940" y="7683195"/>
            <a:ext cx="2029460" cy="546735"/>
          </a:xfrm>
          <a:custGeom>
            <a:avLst/>
            <a:gdLst/>
            <a:ahLst/>
            <a:cxnLst/>
            <a:rect l="l" t="t" r="r" b="b"/>
            <a:pathLst>
              <a:path w="2029459" h="546734">
                <a:moveTo>
                  <a:pt x="2029459" y="0"/>
                </a:moveTo>
                <a:lnTo>
                  <a:pt x="0" y="0"/>
                </a:lnTo>
                <a:lnTo>
                  <a:pt x="0" y="546404"/>
                </a:lnTo>
                <a:lnTo>
                  <a:pt x="2029459" y="546404"/>
                </a:lnTo>
                <a:lnTo>
                  <a:pt x="2029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11A44E-CBA2-F3F2-F3AB-C951FEDD7DD1}"/>
              </a:ext>
            </a:extLst>
          </p:cNvPr>
          <p:cNvSpPr txBox="1"/>
          <p:nvPr/>
        </p:nvSpPr>
        <p:spPr>
          <a:xfrm>
            <a:off x="7979981" y="4794131"/>
            <a:ext cx="358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Prepared By: Shubhamaya Majumdar</a:t>
            </a:r>
          </a:p>
          <a:p>
            <a:pPr algn="ctr"/>
            <a:r>
              <a:rPr lang="en-IN" sz="14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Course: B.Tech. CSE AI</a:t>
            </a:r>
            <a:endParaRPr lang="en-IN" sz="14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54894" y="0"/>
            <a:ext cx="4675505" cy="8229600"/>
            <a:chOff x="9954894" y="0"/>
            <a:chExt cx="4675505" cy="8229600"/>
          </a:xfrm>
        </p:grpSpPr>
        <p:sp>
          <p:nvSpPr>
            <p:cNvPr id="3" name="object 3"/>
            <p:cNvSpPr/>
            <p:nvPr/>
          </p:nvSpPr>
          <p:spPr>
            <a:xfrm>
              <a:off x="9954894" y="0"/>
              <a:ext cx="4675505" cy="8229600"/>
            </a:xfrm>
            <a:custGeom>
              <a:avLst/>
              <a:gdLst/>
              <a:ahLst/>
              <a:cxnLst/>
              <a:rect l="l" t="t" r="r" b="b"/>
              <a:pathLst>
                <a:path w="4675505" h="8229600">
                  <a:moveTo>
                    <a:pt x="4675505" y="0"/>
                  </a:moveTo>
                  <a:lnTo>
                    <a:pt x="0" y="0"/>
                  </a:lnTo>
                  <a:lnTo>
                    <a:pt x="0" y="8229600"/>
                  </a:lnTo>
                  <a:lnTo>
                    <a:pt x="4675505" y="8229600"/>
                  </a:lnTo>
                  <a:lnTo>
                    <a:pt x="4675505" y="0"/>
                  </a:lnTo>
                  <a:close/>
                </a:path>
              </a:pathLst>
            </a:custGeom>
            <a:solidFill>
              <a:srgbClr val="F3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54894" y="2108326"/>
              <a:ext cx="4675505" cy="333971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15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Project</a:t>
            </a:r>
            <a:r>
              <a:rPr spc="-290" dirty="0"/>
              <a:t> </a:t>
            </a:r>
            <a:r>
              <a:rPr spc="-110" dirty="0"/>
              <a:t>Overview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0674" y="1858136"/>
            <a:ext cx="9153525" cy="58143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244" algn="just">
              <a:lnSpc>
                <a:spcPct val="100000"/>
              </a:lnSpc>
              <a:spcBef>
                <a:spcPts val="95"/>
              </a:spcBef>
            </a:pPr>
            <a:r>
              <a:rPr sz="3100" spc="-10" dirty="0">
                <a:solidFill>
                  <a:srgbClr val="787878"/>
                </a:solidFill>
                <a:latin typeface="Times New Roman"/>
                <a:cs typeface="Times New Roman"/>
              </a:rPr>
              <a:t>Objective</a:t>
            </a:r>
            <a:endParaRPr sz="3100" dirty="0">
              <a:latin typeface="Times New Roman"/>
              <a:cs typeface="Times New Roman"/>
            </a:endParaRPr>
          </a:p>
          <a:p>
            <a:pPr marL="55244" marR="2835910" algn="just">
              <a:lnSpc>
                <a:spcPct val="136900"/>
              </a:lnSpc>
              <a:spcBef>
                <a:spcPts val="1555"/>
              </a:spcBef>
            </a:pPr>
            <a:r>
              <a:rPr sz="1400" spc="-6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40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develop</a:t>
            </a:r>
            <a:r>
              <a:rPr sz="140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6D6666"/>
                </a:solidFill>
                <a:latin typeface="Lucida Sans Unicode"/>
                <a:cs typeface="Lucida Sans Unicode"/>
              </a:rPr>
              <a:t>a</a:t>
            </a:r>
            <a:r>
              <a:rPr sz="14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machine</a:t>
            </a:r>
            <a:r>
              <a:rPr sz="140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learning</a:t>
            </a:r>
            <a:r>
              <a:rPr sz="14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model</a:t>
            </a:r>
            <a:r>
              <a:rPr sz="140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that</a:t>
            </a:r>
            <a:r>
              <a:rPr sz="140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predicts</a:t>
            </a:r>
            <a:r>
              <a:rPr sz="140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employee</a:t>
            </a:r>
            <a:r>
              <a:rPr sz="140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salaries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with</a:t>
            </a:r>
            <a:r>
              <a:rPr sz="140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high</a:t>
            </a:r>
            <a:r>
              <a:rPr sz="140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6D6666"/>
                </a:solidFill>
                <a:latin typeface="Lucida Sans Unicode"/>
                <a:cs typeface="Lucida Sans Unicode"/>
              </a:rPr>
              <a:t>accuracy</a:t>
            </a:r>
            <a:r>
              <a:rPr sz="14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by</a:t>
            </a:r>
            <a:r>
              <a:rPr sz="140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analyzing</a:t>
            </a:r>
            <a:r>
              <a:rPr sz="140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multiple</a:t>
            </a:r>
            <a:r>
              <a:rPr sz="140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workforce</a:t>
            </a:r>
            <a:r>
              <a:rPr sz="140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features</a:t>
            </a:r>
            <a:r>
              <a:rPr sz="14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including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job</a:t>
            </a:r>
            <a:r>
              <a:rPr sz="140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title,</a:t>
            </a:r>
            <a:r>
              <a:rPr sz="1400" spc="-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years</a:t>
            </a:r>
            <a:r>
              <a:rPr sz="1400" spc="-6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of</a:t>
            </a:r>
            <a:r>
              <a:rPr sz="1400" spc="-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experience,</a:t>
            </a:r>
            <a:r>
              <a:rPr sz="1400" spc="-8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education</a:t>
            </a:r>
            <a:r>
              <a:rPr sz="1400" spc="-5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level,</a:t>
            </a:r>
            <a:r>
              <a:rPr sz="1400" spc="-7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6D6666"/>
                </a:solidFill>
                <a:latin typeface="Lucida Sans Unicode"/>
                <a:cs typeface="Lucida Sans Unicode"/>
              </a:rPr>
              <a:t>age</a:t>
            </a:r>
            <a:r>
              <a:rPr sz="140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etc.</a:t>
            </a:r>
            <a:endParaRPr sz="1400" dirty="0">
              <a:latin typeface="Lucida Sans Unicode"/>
              <a:cs typeface="Lucida Sans Unicode"/>
            </a:endParaRPr>
          </a:p>
          <a:p>
            <a:pPr marL="55244" algn="just">
              <a:lnSpc>
                <a:spcPct val="100000"/>
              </a:lnSpc>
              <a:spcBef>
                <a:spcPts val="1695"/>
              </a:spcBef>
            </a:pPr>
            <a:r>
              <a:rPr sz="3100" spc="-10" dirty="0">
                <a:solidFill>
                  <a:srgbClr val="787878"/>
                </a:solidFill>
                <a:latin typeface="Times New Roman"/>
                <a:cs typeface="Times New Roman"/>
              </a:rPr>
              <a:t>Description</a:t>
            </a:r>
            <a:endParaRPr sz="31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2295"/>
              </a:spcBef>
            </a:pPr>
            <a:r>
              <a:rPr sz="1400" spc="-35" dirty="0">
                <a:latin typeface="Lucida Sans Unicode"/>
                <a:cs typeface="Lucida Sans Unicode"/>
              </a:rPr>
              <a:t>This</a:t>
            </a:r>
            <a:r>
              <a:rPr sz="1400" spc="1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project builds</a:t>
            </a:r>
            <a:r>
              <a:rPr sz="1400" spc="10" dirty="0">
                <a:latin typeface="Lucida Sans Unicode"/>
                <a:cs typeface="Lucida Sans Unicode"/>
              </a:rPr>
              <a:t> </a:t>
            </a:r>
            <a:r>
              <a:rPr sz="1400" spc="170" dirty="0">
                <a:latin typeface="Lucida Sans Unicode"/>
                <a:cs typeface="Lucida Sans Unicode"/>
              </a:rPr>
              <a:t>a</a:t>
            </a:r>
            <a:r>
              <a:rPr sz="1400" spc="2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Machine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Learning</a:t>
            </a:r>
            <a:r>
              <a:rPr sz="1400" spc="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model</a:t>
            </a:r>
            <a:r>
              <a:rPr sz="1400" spc="-1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to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predict</a:t>
            </a:r>
            <a:r>
              <a:rPr sz="1400" spc="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employee</a:t>
            </a:r>
            <a:r>
              <a:rPr sz="1400" spc="-4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salaries using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170" dirty="0">
                <a:latin typeface="Lucida Sans Unicode"/>
                <a:cs typeface="Lucida Sans Unicode"/>
              </a:rPr>
              <a:t>a</a:t>
            </a:r>
            <a:r>
              <a:rPr sz="1400" spc="1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Kaggle</a:t>
            </a:r>
            <a:r>
              <a:rPr sz="1400" spc="25" dirty="0">
                <a:latin typeface="Lucida Sans Unicode"/>
                <a:cs typeface="Lucida Sans Unicode"/>
              </a:rPr>
              <a:t> </a:t>
            </a:r>
            <a:r>
              <a:rPr sz="1400" spc="65" dirty="0">
                <a:latin typeface="Lucida Sans Unicode"/>
                <a:cs typeface="Lucida Sans Unicode"/>
              </a:rPr>
              <a:t>dataset</a:t>
            </a:r>
            <a:r>
              <a:rPr sz="1400" spc="-10" dirty="0">
                <a:latin typeface="Lucida Sans Unicode"/>
                <a:cs typeface="Lucida Sans Unicode"/>
              </a:rPr>
              <a:t> </a:t>
            </a:r>
            <a:r>
              <a:rPr sz="1400" spc="-20" dirty="0">
                <a:latin typeface="Lucida Sans Unicode"/>
                <a:cs typeface="Lucida Sans Unicode"/>
              </a:rPr>
              <a:t>that </a:t>
            </a:r>
            <a:r>
              <a:rPr sz="1400" dirty="0">
                <a:latin typeface="Lucida Sans Unicode"/>
                <a:cs typeface="Lucida Sans Unicode"/>
              </a:rPr>
              <a:t>includes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features</a:t>
            </a:r>
            <a:r>
              <a:rPr sz="1400" spc="-3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such</a:t>
            </a:r>
            <a:r>
              <a:rPr sz="1400" spc="10" dirty="0">
                <a:latin typeface="Lucida Sans Unicode"/>
                <a:cs typeface="Lucida Sans Unicode"/>
              </a:rPr>
              <a:t> </a:t>
            </a:r>
            <a:r>
              <a:rPr sz="1400" spc="95" dirty="0">
                <a:latin typeface="Lucida Sans Unicode"/>
                <a:cs typeface="Lucida Sans Unicode"/>
              </a:rPr>
              <a:t>as</a:t>
            </a:r>
            <a:r>
              <a:rPr sz="1400" spc="1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job</a:t>
            </a:r>
            <a:r>
              <a:rPr sz="1400" spc="15" dirty="0">
                <a:latin typeface="Lucida Sans Unicode"/>
                <a:cs typeface="Lucida Sans Unicode"/>
              </a:rPr>
              <a:t> </a:t>
            </a:r>
            <a:r>
              <a:rPr sz="1400" spc="-40" dirty="0">
                <a:latin typeface="Lucida Sans Unicode"/>
                <a:cs typeface="Lucida Sans Unicode"/>
              </a:rPr>
              <a:t>title,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experience,</a:t>
            </a:r>
            <a:r>
              <a:rPr sz="1400" spc="-35" dirty="0">
                <a:latin typeface="Lucida Sans Unicode"/>
                <a:cs typeface="Lucida Sans Unicode"/>
              </a:rPr>
              <a:t> </a:t>
            </a:r>
            <a:r>
              <a:rPr sz="1400" spc="50" dirty="0">
                <a:latin typeface="Lucida Sans Unicode"/>
                <a:cs typeface="Lucida Sans Unicode"/>
              </a:rPr>
              <a:t>education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level,</a:t>
            </a:r>
            <a:r>
              <a:rPr sz="1400" spc="-20" dirty="0">
                <a:latin typeface="Lucida Sans Unicode"/>
                <a:cs typeface="Lucida Sans Unicode"/>
              </a:rPr>
              <a:t> </a:t>
            </a:r>
            <a:r>
              <a:rPr sz="1400" spc="80" dirty="0">
                <a:latin typeface="Lucida Sans Unicode"/>
                <a:cs typeface="Lucida Sans Unicode"/>
              </a:rPr>
              <a:t>company</a:t>
            </a:r>
            <a:r>
              <a:rPr sz="1400" dirty="0">
                <a:latin typeface="Lucida Sans Unicode"/>
                <a:cs typeface="Lucida Sans Unicode"/>
              </a:rPr>
              <a:t> </a:t>
            </a:r>
            <a:r>
              <a:rPr sz="1400" spc="-55" dirty="0">
                <a:latin typeface="Lucida Sans Unicode"/>
                <a:cs typeface="Lucida Sans Unicode"/>
              </a:rPr>
              <a:t>size,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spc="-20" dirty="0">
                <a:latin typeface="Lucida Sans Unicode"/>
                <a:cs typeface="Lucida Sans Unicode"/>
              </a:rPr>
              <a:t>industry,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spc="80" dirty="0">
                <a:latin typeface="Lucida Sans Unicode"/>
                <a:cs typeface="Lucida Sans Unicode"/>
              </a:rPr>
              <a:t>and</a:t>
            </a:r>
            <a:r>
              <a:rPr sz="1400" spc="1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location.</a:t>
            </a:r>
            <a:endParaRPr sz="1400" dirty="0">
              <a:latin typeface="Lucida Sans Unicode"/>
              <a:cs typeface="Lucida Sans Unicode"/>
            </a:endParaRPr>
          </a:p>
          <a:p>
            <a:pPr marL="12700" algn="just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Lucida Sans Unicode"/>
                <a:cs typeface="Lucida Sans Unicode"/>
              </a:rPr>
              <a:t>The</a:t>
            </a:r>
            <a:r>
              <a:rPr sz="1400" spc="25" dirty="0">
                <a:latin typeface="Lucida Sans Unicode"/>
                <a:cs typeface="Lucida Sans Unicode"/>
              </a:rPr>
              <a:t> </a:t>
            </a:r>
            <a:r>
              <a:rPr sz="1400" spc="95" dirty="0">
                <a:latin typeface="Lucida Sans Unicode"/>
                <a:cs typeface="Lucida Sans Unicode"/>
              </a:rPr>
              <a:t>data</a:t>
            </a:r>
            <a:r>
              <a:rPr sz="1400" spc="30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has</a:t>
            </a:r>
            <a:r>
              <a:rPr sz="1400" spc="30" dirty="0">
                <a:latin typeface="Lucida Sans Unicode"/>
                <a:cs typeface="Lucida Sans Unicode"/>
              </a:rPr>
              <a:t> </a:t>
            </a:r>
            <a:r>
              <a:rPr sz="1400" spc="65" dirty="0">
                <a:latin typeface="Lucida Sans Unicode"/>
                <a:cs typeface="Lucida Sans Unicode"/>
              </a:rPr>
              <a:t>been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cleaned,</a:t>
            </a:r>
            <a:r>
              <a:rPr sz="1400" spc="-10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preprocessed,</a:t>
            </a:r>
            <a:r>
              <a:rPr sz="1400" spc="-25" dirty="0">
                <a:latin typeface="Lucida Sans Unicode"/>
                <a:cs typeface="Lucida Sans Unicode"/>
              </a:rPr>
              <a:t> </a:t>
            </a:r>
            <a:r>
              <a:rPr sz="1400" spc="80" dirty="0">
                <a:latin typeface="Lucida Sans Unicode"/>
                <a:cs typeface="Lucida Sans Unicode"/>
              </a:rPr>
              <a:t>and</a:t>
            </a:r>
            <a:r>
              <a:rPr sz="1400" spc="2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encoded,</a:t>
            </a:r>
            <a:r>
              <a:rPr sz="1400" spc="5" dirty="0">
                <a:latin typeface="Lucida Sans Unicode"/>
                <a:cs typeface="Lucida Sans Unicode"/>
              </a:rPr>
              <a:t> </a:t>
            </a:r>
            <a:r>
              <a:rPr sz="1400" spc="80" dirty="0">
                <a:latin typeface="Lucida Sans Unicode"/>
                <a:cs typeface="Lucida Sans Unicode"/>
              </a:rPr>
              <a:t>and</a:t>
            </a:r>
            <a:r>
              <a:rPr sz="1400" spc="30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multiple</a:t>
            </a:r>
            <a:r>
              <a:rPr sz="1400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regression</a:t>
            </a:r>
            <a:r>
              <a:rPr sz="1400" spc="-1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models</a:t>
            </a:r>
            <a:r>
              <a:rPr sz="1400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are</a:t>
            </a:r>
            <a:r>
              <a:rPr sz="1400" spc="1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trained</a:t>
            </a:r>
            <a:endParaRPr sz="1400" dirty="0">
              <a:latin typeface="Lucida Sans Unicode"/>
              <a:cs typeface="Lucida Sans Unicode"/>
            </a:endParaRPr>
          </a:p>
          <a:p>
            <a:pPr marL="12700" algn="just">
              <a:lnSpc>
                <a:spcPct val="100000"/>
              </a:lnSpc>
            </a:pPr>
            <a:r>
              <a:rPr sz="1400" spc="10" dirty="0">
                <a:latin typeface="Lucida Sans Unicode"/>
                <a:cs typeface="Lucida Sans Unicode"/>
              </a:rPr>
              <a:t>to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understand</a:t>
            </a:r>
            <a:r>
              <a:rPr sz="1400" spc="4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which</a:t>
            </a:r>
            <a:r>
              <a:rPr sz="1400" spc="9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factors</a:t>
            </a:r>
            <a:r>
              <a:rPr sz="1400" spc="60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influence</a:t>
            </a:r>
            <a:r>
              <a:rPr sz="1400" spc="6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salary.</a:t>
            </a:r>
            <a:endParaRPr sz="1400" dirty="0">
              <a:latin typeface="Lucida Sans Unicode"/>
              <a:cs typeface="Lucida Sans Unicode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400" spc="-55" dirty="0">
                <a:latin typeface="Lucida Sans Unicode"/>
                <a:cs typeface="Lucida Sans Unicode"/>
              </a:rPr>
              <a:t>To</a:t>
            </a:r>
            <a:r>
              <a:rPr sz="1400" spc="12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improve</a:t>
            </a:r>
            <a:r>
              <a:rPr sz="1400" spc="65" dirty="0">
                <a:latin typeface="Lucida Sans Unicode"/>
                <a:cs typeface="Lucida Sans Unicode"/>
              </a:rPr>
              <a:t> accuracy,</a:t>
            </a:r>
            <a:r>
              <a:rPr sz="1400" spc="11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the</a:t>
            </a:r>
            <a:r>
              <a:rPr sz="1400" spc="10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project</a:t>
            </a:r>
            <a:r>
              <a:rPr sz="1400" spc="8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implements</a:t>
            </a:r>
            <a:r>
              <a:rPr sz="1400" spc="95" dirty="0">
                <a:latin typeface="Lucida Sans Unicode"/>
                <a:cs typeface="Lucida Sans Unicode"/>
              </a:rPr>
              <a:t> </a:t>
            </a:r>
            <a:r>
              <a:rPr sz="1400" spc="50" dirty="0">
                <a:latin typeface="Lucida Sans Unicode"/>
                <a:cs typeface="Lucida Sans Unicode"/>
              </a:rPr>
              <a:t>ensemble </a:t>
            </a:r>
            <a:r>
              <a:rPr sz="1400" dirty="0">
                <a:latin typeface="Lucida Sans Unicode"/>
                <a:cs typeface="Lucida Sans Unicode"/>
              </a:rPr>
              <a:t>learning</a:t>
            </a:r>
            <a:r>
              <a:rPr sz="1400" spc="1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techniques</a:t>
            </a:r>
            <a:r>
              <a:rPr sz="1400" spc="5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including:</a:t>
            </a:r>
            <a:endParaRPr sz="1400" dirty="0">
              <a:latin typeface="Lucida Sans Unicode"/>
              <a:cs typeface="Lucida Sans Unicode"/>
            </a:endParaRPr>
          </a:p>
          <a:p>
            <a:pPr marL="158115" indent="-145415" algn="just">
              <a:lnSpc>
                <a:spcPct val="100000"/>
              </a:lnSpc>
              <a:spcBef>
                <a:spcPts val="1680"/>
              </a:spcBef>
              <a:buChar char="-"/>
              <a:tabLst>
                <a:tab pos="158115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Random</a:t>
            </a:r>
            <a:r>
              <a:rPr sz="1400" spc="-7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Forest</a:t>
            </a:r>
            <a:r>
              <a:rPr sz="1400" spc="-9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Regressor</a:t>
            </a:r>
            <a:endParaRPr sz="1400" dirty="0">
              <a:latin typeface="Lucida Sans Unicode"/>
              <a:cs typeface="Lucida Sans Unicode"/>
            </a:endParaRPr>
          </a:p>
          <a:p>
            <a:pPr marL="158115" indent="-145415" algn="just">
              <a:lnSpc>
                <a:spcPct val="100000"/>
              </a:lnSpc>
              <a:spcBef>
                <a:spcPts val="1680"/>
              </a:spcBef>
              <a:buChar char="-"/>
              <a:tabLst>
                <a:tab pos="158115" algn="l"/>
              </a:tabLst>
            </a:pPr>
            <a:r>
              <a:rPr sz="1400" dirty="0">
                <a:latin typeface="Lucida Sans Unicode"/>
                <a:cs typeface="Lucida Sans Unicode"/>
              </a:rPr>
              <a:t>Gradient</a:t>
            </a:r>
            <a:r>
              <a:rPr sz="1400" spc="15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Boosting</a:t>
            </a:r>
            <a:r>
              <a:rPr sz="1400" spc="1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Regressor</a:t>
            </a:r>
            <a:endParaRPr sz="1400" dirty="0">
              <a:latin typeface="Lucida Sans Unicode"/>
              <a:cs typeface="Lucida Sans Unicode"/>
            </a:endParaRPr>
          </a:p>
          <a:p>
            <a:pPr marL="158115" indent="-145415" algn="just">
              <a:lnSpc>
                <a:spcPct val="100000"/>
              </a:lnSpc>
              <a:spcBef>
                <a:spcPts val="1680"/>
              </a:spcBef>
              <a:buChar char="-"/>
              <a:tabLst>
                <a:tab pos="158115" algn="l"/>
              </a:tabLst>
            </a:pPr>
            <a:r>
              <a:rPr sz="1400" dirty="0">
                <a:latin typeface="Lucida Sans Unicode"/>
                <a:cs typeface="Lucida Sans Unicode"/>
              </a:rPr>
              <a:t>Voting</a:t>
            </a:r>
            <a:r>
              <a:rPr sz="1400" spc="3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Regressor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65" dirty="0">
                <a:latin typeface="Lucida Sans Unicode"/>
                <a:cs typeface="Lucida Sans Unicode"/>
              </a:rPr>
              <a:t>(combines</a:t>
            </a:r>
            <a:r>
              <a:rPr sz="1400" spc="-3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multiple</a:t>
            </a:r>
            <a:r>
              <a:rPr sz="1400" spc="2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models)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79375" algn="just">
              <a:lnSpc>
                <a:spcPct val="100000"/>
              </a:lnSpc>
              <a:spcBef>
                <a:spcPts val="1680"/>
              </a:spcBef>
            </a:pPr>
            <a:r>
              <a:rPr sz="1400" spc="70" dirty="0">
                <a:latin typeface="Lucida Sans Unicode"/>
                <a:cs typeface="Lucida Sans Unicode"/>
              </a:rPr>
              <a:t>Each</a:t>
            </a:r>
            <a:r>
              <a:rPr sz="1400" spc="-10" dirty="0">
                <a:latin typeface="Lucida Sans Unicode"/>
                <a:cs typeface="Lucida Sans Unicode"/>
              </a:rPr>
              <a:t> </a:t>
            </a:r>
            <a:r>
              <a:rPr sz="1400" spc="50" dirty="0">
                <a:latin typeface="Lucida Sans Unicode"/>
                <a:cs typeface="Lucida Sans Unicode"/>
              </a:rPr>
              <a:t>model</a:t>
            </a:r>
            <a:r>
              <a:rPr sz="1400" spc="-3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is </a:t>
            </a:r>
            <a:r>
              <a:rPr sz="1400" spc="65" dirty="0">
                <a:latin typeface="Lucida Sans Unicode"/>
                <a:cs typeface="Lucida Sans Unicode"/>
              </a:rPr>
              <a:t>evaluated</a:t>
            </a:r>
            <a:r>
              <a:rPr sz="1400" spc="-4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using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metrics</a:t>
            </a:r>
            <a:r>
              <a:rPr sz="1400" spc="-20" dirty="0">
                <a:latin typeface="Lucida Sans Unicode"/>
                <a:cs typeface="Lucida Sans Unicode"/>
              </a:rPr>
              <a:t> </a:t>
            </a:r>
            <a:r>
              <a:rPr sz="1400" spc="-35" dirty="0">
                <a:latin typeface="Lucida Sans Unicode"/>
                <a:cs typeface="Lucida Sans Unicode"/>
              </a:rPr>
              <a:t>like</a:t>
            </a:r>
            <a:r>
              <a:rPr sz="1400" spc="-50" dirty="0">
                <a:latin typeface="Lucida Sans Unicode"/>
                <a:cs typeface="Lucida Sans Unicode"/>
              </a:rPr>
              <a:t> </a:t>
            </a:r>
            <a:r>
              <a:rPr sz="1400" spc="-40" dirty="0">
                <a:latin typeface="Lucida Sans Unicode"/>
                <a:cs typeface="Lucida Sans Unicode"/>
              </a:rPr>
              <a:t>MSE,</a:t>
            </a:r>
            <a:r>
              <a:rPr sz="1400" spc="-25" dirty="0">
                <a:latin typeface="Lucida Sans Unicode"/>
                <a:cs typeface="Lucida Sans Unicode"/>
              </a:rPr>
              <a:t> </a:t>
            </a:r>
            <a:r>
              <a:rPr sz="1400" spc="-40" dirty="0">
                <a:latin typeface="Lucida Sans Unicode"/>
                <a:cs typeface="Lucida Sans Unicode"/>
              </a:rPr>
              <a:t>RMSE, </a:t>
            </a:r>
            <a:r>
              <a:rPr sz="1400" spc="80" dirty="0">
                <a:latin typeface="Lucida Sans Unicode"/>
                <a:cs typeface="Lucida Sans Unicode"/>
              </a:rPr>
              <a:t>and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spc="-75" dirty="0">
                <a:latin typeface="Lucida Sans Unicode"/>
                <a:cs typeface="Lucida Sans Unicode"/>
              </a:rPr>
              <a:t>R2</a:t>
            </a:r>
            <a:r>
              <a:rPr sz="1400" spc="-1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score,</a:t>
            </a:r>
            <a:r>
              <a:rPr sz="1400" spc="-40" dirty="0">
                <a:latin typeface="Lucida Sans Unicode"/>
                <a:cs typeface="Lucida Sans Unicode"/>
              </a:rPr>
              <a:t> </a:t>
            </a:r>
            <a:r>
              <a:rPr sz="1400" spc="80" dirty="0">
                <a:latin typeface="Lucida Sans Unicode"/>
                <a:cs typeface="Lucida Sans Unicode"/>
              </a:rPr>
              <a:t>and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the</a:t>
            </a:r>
            <a:r>
              <a:rPr sz="1400" spc="-1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best-performing</a:t>
            </a:r>
            <a:r>
              <a:rPr sz="1400" spc="-40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model</a:t>
            </a:r>
            <a:r>
              <a:rPr sz="1400" spc="-35" dirty="0">
                <a:latin typeface="Lucida Sans Unicode"/>
                <a:cs typeface="Lucida Sans Unicode"/>
              </a:rPr>
              <a:t> </a:t>
            </a:r>
            <a:r>
              <a:rPr sz="1400" spc="-25" dirty="0">
                <a:latin typeface="Lucida Sans Unicode"/>
                <a:cs typeface="Lucida Sans Unicode"/>
              </a:rPr>
              <a:t>is </a:t>
            </a:r>
            <a:r>
              <a:rPr sz="1400" spc="80" dirty="0">
                <a:latin typeface="Lucida Sans Unicode"/>
                <a:cs typeface="Lucida Sans Unicode"/>
              </a:rPr>
              <a:t>saved</a:t>
            </a:r>
            <a:r>
              <a:rPr sz="1400" spc="-100" dirty="0">
                <a:latin typeface="Lucida Sans Unicode"/>
                <a:cs typeface="Lucida Sans Unicode"/>
              </a:rPr>
              <a:t> </a:t>
            </a:r>
            <a:r>
              <a:rPr sz="1400" spc="-30" dirty="0">
                <a:latin typeface="Lucida Sans Unicode"/>
                <a:cs typeface="Lucida Sans Unicode"/>
              </a:rPr>
              <a:t>for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future</a:t>
            </a:r>
            <a:r>
              <a:rPr sz="1400" spc="-7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predictions.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06324" y="7618559"/>
            <a:ext cx="2029460" cy="546735"/>
          </a:xfrm>
          <a:custGeom>
            <a:avLst/>
            <a:gdLst/>
            <a:ahLst/>
            <a:cxnLst/>
            <a:rect l="l" t="t" r="r" b="b"/>
            <a:pathLst>
              <a:path w="2029459" h="546734">
                <a:moveTo>
                  <a:pt x="2029459" y="0"/>
                </a:moveTo>
                <a:lnTo>
                  <a:pt x="0" y="0"/>
                </a:lnTo>
                <a:lnTo>
                  <a:pt x="0" y="546404"/>
                </a:lnTo>
                <a:lnTo>
                  <a:pt x="2029459" y="546404"/>
                </a:lnTo>
                <a:lnTo>
                  <a:pt x="2029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3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Technical</a:t>
            </a:r>
            <a:r>
              <a:rPr spc="-30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7821" y="1797862"/>
            <a:ext cx="13331825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100"/>
              </a:spcBef>
            </a:pP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My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approach</a:t>
            </a:r>
            <a:r>
              <a:rPr sz="1450" spc="-5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leverages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95" dirty="0">
                <a:solidFill>
                  <a:srgbClr val="6D6666"/>
                </a:solidFill>
                <a:latin typeface="Lucida Sans Unicode"/>
                <a:cs typeface="Lucida Sans Unicode"/>
              </a:rPr>
              <a:t>advanced</a:t>
            </a:r>
            <a:r>
              <a:rPr sz="145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ensemble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learning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techniques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ensure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highly </a:t>
            </a:r>
            <a:r>
              <a:rPr sz="1450" spc="80" dirty="0">
                <a:solidFill>
                  <a:srgbClr val="6D6666"/>
                </a:solidFill>
                <a:latin typeface="Lucida Sans Unicode"/>
                <a:cs typeface="Lucida Sans Unicode"/>
              </a:rPr>
              <a:t>accurate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dynamic</a:t>
            </a:r>
            <a:r>
              <a:rPr sz="1450" spc="-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salary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predictions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across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departments </a:t>
            </a:r>
            <a:r>
              <a:rPr sz="14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450" spc="-9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domains</a:t>
            </a:r>
            <a:r>
              <a:rPr sz="1450" spc="-8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50" dirty="0">
                <a:solidFill>
                  <a:srgbClr val="6D6666"/>
                </a:solidFill>
                <a:latin typeface="Lucida Sans Unicode"/>
                <a:cs typeface="Lucida Sans Unicode"/>
              </a:rPr>
              <a:t>.</a:t>
            </a:r>
            <a:endParaRPr sz="145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9008" y="4658105"/>
            <a:ext cx="13332460" cy="1522095"/>
            <a:chOff x="649008" y="4658105"/>
            <a:chExt cx="13332460" cy="1522095"/>
          </a:xfrm>
        </p:grpSpPr>
        <p:sp>
          <p:nvSpPr>
            <p:cNvPr id="6" name="object 6"/>
            <p:cNvSpPr/>
            <p:nvPr/>
          </p:nvSpPr>
          <p:spPr>
            <a:xfrm>
              <a:off x="649008" y="4658105"/>
              <a:ext cx="13332460" cy="792480"/>
            </a:xfrm>
            <a:custGeom>
              <a:avLst/>
              <a:gdLst/>
              <a:ahLst/>
              <a:cxnLst/>
              <a:rect l="l" t="t" r="r" b="b"/>
              <a:pathLst>
                <a:path w="13332460" h="792479">
                  <a:moveTo>
                    <a:pt x="2608288" y="5207"/>
                  </a:moveTo>
                  <a:lnTo>
                    <a:pt x="2603195" y="0"/>
                  </a:lnTo>
                  <a:lnTo>
                    <a:pt x="2590508" y="0"/>
                  </a:lnTo>
                  <a:lnTo>
                    <a:pt x="2585428" y="5207"/>
                  </a:lnTo>
                  <a:lnTo>
                    <a:pt x="2585428" y="11430"/>
                  </a:lnTo>
                  <a:lnTo>
                    <a:pt x="2585428" y="551307"/>
                  </a:lnTo>
                  <a:lnTo>
                    <a:pt x="2590508" y="556387"/>
                  </a:lnTo>
                  <a:lnTo>
                    <a:pt x="2603195" y="556387"/>
                  </a:lnTo>
                  <a:lnTo>
                    <a:pt x="2608288" y="551307"/>
                  </a:lnTo>
                  <a:lnTo>
                    <a:pt x="2608288" y="5207"/>
                  </a:lnTo>
                  <a:close/>
                </a:path>
                <a:path w="13332460" h="792479">
                  <a:moveTo>
                    <a:pt x="13332168" y="774446"/>
                  </a:moveTo>
                  <a:lnTo>
                    <a:pt x="13327088" y="769366"/>
                  </a:lnTo>
                  <a:lnTo>
                    <a:pt x="5118" y="769366"/>
                  </a:lnTo>
                  <a:lnTo>
                    <a:pt x="0" y="774446"/>
                  </a:lnTo>
                  <a:lnTo>
                    <a:pt x="0" y="780796"/>
                  </a:lnTo>
                  <a:lnTo>
                    <a:pt x="0" y="787146"/>
                  </a:lnTo>
                  <a:lnTo>
                    <a:pt x="5118" y="792226"/>
                  </a:lnTo>
                  <a:lnTo>
                    <a:pt x="13327088" y="792226"/>
                  </a:lnTo>
                  <a:lnTo>
                    <a:pt x="13332168" y="787146"/>
                  </a:lnTo>
                  <a:lnTo>
                    <a:pt x="13332168" y="774446"/>
                  </a:lnTo>
                  <a:close/>
                </a:path>
              </a:pathLst>
            </a:custGeom>
            <a:solidFill>
              <a:srgbClr val="D2C5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37204" y="5218811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61" y="0"/>
                  </a:moveTo>
                  <a:lnTo>
                    <a:pt x="160793" y="5513"/>
                  </a:lnTo>
                  <a:lnTo>
                    <a:pt x="116864" y="21217"/>
                  </a:lnTo>
                  <a:lnTo>
                    <a:pt x="78122" y="45856"/>
                  </a:lnTo>
                  <a:lnTo>
                    <a:pt x="45816" y="78175"/>
                  </a:lnTo>
                  <a:lnTo>
                    <a:pt x="21195" y="116919"/>
                  </a:lnTo>
                  <a:lnTo>
                    <a:pt x="5506" y="160833"/>
                  </a:lnTo>
                  <a:lnTo>
                    <a:pt x="0" y="208661"/>
                  </a:lnTo>
                  <a:lnTo>
                    <a:pt x="5506" y="256528"/>
                  </a:lnTo>
                  <a:lnTo>
                    <a:pt x="21195" y="300457"/>
                  </a:lnTo>
                  <a:lnTo>
                    <a:pt x="45816" y="339199"/>
                  </a:lnTo>
                  <a:lnTo>
                    <a:pt x="78122" y="371505"/>
                  </a:lnTo>
                  <a:lnTo>
                    <a:pt x="116864" y="396126"/>
                  </a:lnTo>
                  <a:lnTo>
                    <a:pt x="160793" y="411815"/>
                  </a:lnTo>
                  <a:lnTo>
                    <a:pt x="208661" y="417321"/>
                  </a:lnTo>
                  <a:lnTo>
                    <a:pt x="256488" y="411815"/>
                  </a:lnTo>
                  <a:lnTo>
                    <a:pt x="300402" y="396126"/>
                  </a:lnTo>
                  <a:lnTo>
                    <a:pt x="339146" y="371505"/>
                  </a:lnTo>
                  <a:lnTo>
                    <a:pt x="371465" y="339199"/>
                  </a:lnTo>
                  <a:lnTo>
                    <a:pt x="396104" y="300457"/>
                  </a:lnTo>
                  <a:lnTo>
                    <a:pt x="411808" y="256528"/>
                  </a:lnTo>
                  <a:lnTo>
                    <a:pt x="417321" y="208661"/>
                  </a:lnTo>
                  <a:lnTo>
                    <a:pt x="411808" y="160833"/>
                  </a:lnTo>
                  <a:lnTo>
                    <a:pt x="396104" y="116919"/>
                  </a:lnTo>
                  <a:lnTo>
                    <a:pt x="371465" y="78175"/>
                  </a:lnTo>
                  <a:lnTo>
                    <a:pt x="339146" y="45856"/>
                  </a:lnTo>
                  <a:lnTo>
                    <a:pt x="300402" y="21217"/>
                  </a:lnTo>
                  <a:lnTo>
                    <a:pt x="256488" y="5513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6554" y="5243979"/>
              <a:ext cx="339090" cy="367030"/>
            </a:xfrm>
            <a:custGeom>
              <a:avLst/>
              <a:gdLst/>
              <a:ahLst/>
              <a:cxnLst/>
              <a:rect l="l" t="t" r="r" b="b"/>
              <a:pathLst>
                <a:path w="339089" h="367029">
                  <a:moveTo>
                    <a:pt x="94" y="339328"/>
                  </a:moveTo>
                  <a:lnTo>
                    <a:pt x="25917" y="366935"/>
                  </a:lnTo>
                  <a:lnTo>
                    <a:pt x="35612" y="366994"/>
                  </a:lnTo>
                </a:path>
                <a:path w="339089" h="367029">
                  <a:moveTo>
                    <a:pt x="311468" y="366976"/>
                  </a:moveTo>
                  <a:lnTo>
                    <a:pt x="338617" y="341702"/>
                  </a:lnTo>
                  <a:lnTo>
                    <a:pt x="338650" y="331074"/>
                  </a:lnTo>
                </a:path>
                <a:path w="339089" h="367029">
                  <a:moveTo>
                    <a:pt x="338585" y="24937"/>
                  </a:moveTo>
                  <a:lnTo>
                    <a:pt x="314947" y="195"/>
                  </a:lnTo>
                  <a:lnTo>
                    <a:pt x="304379" y="97"/>
                  </a:lnTo>
                </a:path>
                <a:path w="339089" h="367029">
                  <a:moveTo>
                    <a:pt x="24876" y="0"/>
                  </a:moveTo>
                  <a:lnTo>
                    <a:pt x="235" y="22011"/>
                  </a:lnTo>
                  <a:lnTo>
                    <a:pt x="188" y="32610"/>
                  </a:lnTo>
                </a:path>
                <a:path w="339089" h="367029">
                  <a:moveTo>
                    <a:pt x="338650" y="90379"/>
                  </a:moveTo>
                  <a:lnTo>
                    <a:pt x="83" y="90362"/>
                  </a:lnTo>
                </a:path>
                <a:path w="339089" h="367029">
                  <a:moveTo>
                    <a:pt x="0" y="95756"/>
                  </a:moveTo>
                  <a:lnTo>
                    <a:pt x="94" y="339328"/>
                  </a:lnTo>
                </a:path>
                <a:path w="339089" h="367029">
                  <a:moveTo>
                    <a:pt x="247430" y="47143"/>
                  </a:moveTo>
                  <a:lnTo>
                    <a:pt x="247430" y="55206"/>
                  </a:lnTo>
                  <a:lnTo>
                    <a:pt x="240885" y="61758"/>
                  </a:lnTo>
                  <a:lnTo>
                    <a:pt x="232815" y="61758"/>
                  </a:lnTo>
                  <a:lnTo>
                    <a:pt x="224742" y="61758"/>
                  </a:lnTo>
                  <a:lnTo>
                    <a:pt x="218197" y="55206"/>
                  </a:lnTo>
                  <a:lnTo>
                    <a:pt x="218197" y="47143"/>
                  </a:lnTo>
                  <a:lnTo>
                    <a:pt x="218197" y="39080"/>
                  </a:lnTo>
                  <a:lnTo>
                    <a:pt x="224742" y="32512"/>
                  </a:lnTo>
                  <a:lnTo>
                    <a:pt x="232815" y="32512"/>
                  </a:lnTo>
                  <a:lnTo>
                    <a:pt x="240885" y="32512"/>
                  </a:lnTo>
                  <a:lnTo>
                    <a:pt x="247430" y="39080"/>
                  </a:lnTo>
                  <a:lnTo>
                    <a:pt x="247430" y="47143"/>
                  </a:lnTo>
                  <a:close/>
                </a:path>
                <a:path w="339089" h="367029">
                  <a:moveTo>
                    <a:pt x="245311" y="54816"/>
                  </a:moveTo>
                  <a:lnTo>
                    <a:pt x="246569" y="52963"/>
                  </a:lnTo>
                </a:path>
                <a:path w="339089" h="367029">
                  <a:moveTo>
                    <a:pt x="295601" y="60028"/>
                  </a:moveTo>
                  <a:lnTo>
                    <a:pt x="288522" y="63663"/>
                  </a:lnTo>
                  <a:lnTo>
                    <a:pt x="279838" y="60867"/>
                  </a:lnTo>
                  <a:lnTo>
                    <a:pt x="276202" y="53776"/>
                  </a:lnTo>
                  <a:lnTo>
                    <a:pt x="272567" y="46720"/>
                  </a:lnTo>
                  <a:lnTo>
                    <a:pt x="275360" y="38007"/>
                  </a:lnTo>
                  <a:lnTo>
                    <a:pt x="282442" y="34398"/>
                  </a:lnTo>
                  <a:lnTo>
                    <a:pt x="289524" y="30757"/>
                  </a:lnTo>
                  <a:lnTo>
                    <a:pt x="298202" y="33553"/>
                  </a:lnTo>
                  <a:lnTo>
                    <a:pt x="301843" y="40641"/>
                  </a:lnTo>
                  <a:lnTo>
                    <a:pt x="304997" y="46785"/>
                  </a:lnTo>
                  <a:lnTo>
                    <a:pt x="303339" y="54296"/>
                  </a:lnTo>
                  <a:lnTo>
                    <a:pt x="297909" y="58558"/>
                  </a:lnTo>
                </a:path>
                <a:path w="339089" h="367029">
                  <a:moveTo>
                    <a:pt x="295633" y="60080"/>
                  </a:moveTo>
                  <a:lnTo>
                    <a:pt x="298234" y="58968"/>
                  </a:lnTo>
                </a:path>
                <a:path w="339089" h="367029">
                  <a:moveTo>
                    <a:pt x="38951" y="50167"/>
                  </a:moveTo>
                  <a:lnTo>
                    <a:pt x="102198" y="50102"/>
                  </a:lnTo>
                </a:path>
              </a:pathLst>
            </a:custGeom>
            <a:ln w="16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5414" y="5357282"/>
              <a:ext cx="221218" cy="22120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76554" y="5243979"/>
              <a:ext cx="339090" cy="367030"/>
            </a:xfrm>
            <a:custGeom>
              <a:avLst/>
              <a:gdLst/>
              <a:ahLst/>
              <a:cxnLst/>
              <a:rect l="l" t="t" r="r" b="b"/>
              <a:pathLst>
                <a:path w="339089" h="367029">
                  <a:moveTo>
                    <a:pt x="35612" y="366994"/>
                  </a:moveTo>
                  <a:lnTo>
                    <a:pt x="311468" y="366976"/>
                  </a:lnTo>
                </a:path>
                <a:path w="339089" h="367029">
                  <a:moveTo>
                    <a:pt x="338650" y="331074"/>
                  </a:moveTo>
                  <a:lnTo>
                    <a:pt x="338585" y="24937"/>
                  </a:lnTo>
                </a:path>
                <a:path w="339089" h="367029">
                  <a:moveTo>
                    <a:pt x="304379" y="97"/>
                  </a:moveTo>
                  <a:lnTo>
                    <a:pt x="24876" y="0"/>
                  </a:lnTo>
                </a:path>
                <a:path w="339089" h="367029">
                  <a:moveTo>
                    <a:pt x="188" y="32610"/>
                  </a:moveTo>
                  <a:lnTo>
                    <a:pt x="0" y="95756"/>
                  </a:lnTo>
                </a:path>
              </a:pathLst>
            </a:custGeom>
            <a:ln w="16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47156" y="5623433"/>
              <a:ext cx="22860" cy="556895"/>
            </a:xfrm>
            <a:custGeom>
              <a:avLst/>
              <a:gdLst/>
              <a:ahLst/>
              <a:cxnLst/>
              <a:rect l="l" t="t" r="r" b="b"/>
              <a:pathLst>
                <a:path w="22860" h="556895">
                  <a:moveTo>
                    <a:pt x="17780" y="0"/>
                  </a:moveTo>
                  <a:lnTo>
                    <a:pt x="5080" y="0"/>
                  </a:lnTo>
                  <a:lnTo>
                    <a:pt x="0" y="5207"/>
                  </a:lnTo>
                  <a:lnTo>
                    <a:pt x="0" y="11430"/>
                  </a:lnTo>
                  <a:lnTo>
                    <a:pt x="0" y="551307"/>
                  </a:lnTo>
                  <a:lnTo>
                    <a:pt x="5080" y="556387"/>
                  </a:lnTo>
                  <a:lnTo>
                    <a:pt x="17780" y="556387"/>
                  </a:lnTo>
                  <a:lnTo>
                    <a:pt x="22860" y="551307"/>
                  </a:lnTo>
                  <a:lnTo>
                    <a:pt x="22860" y="5207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D2C5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49925" y="5218811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61" y="0"/>
                  </a:moveTo>
                  <a:lnTo>
                    <a:pt x="160793" y="5513"/>
                  </a:lnTo>
                  <a:lnTo>
                    <a:pt x="116864" y="21217"/>
                  </a:lnTo>
                  <a:lnTo>
                    <a:pt x="78122" y="45856"/>
                  </a:lnTo>
                  <a:lnTo>
                    <a:pt x="45816" y="78175"/>
                  </a:lnTo>
                  <a:lnTo>
                    <a:pt x="21195" y="116919"/>
                  </a:lnTo>
                  <a:lnTo>
                    <a:pt x="5506" y="160833"/>
                  </a:lnTo>
                  <a:lnTo>
                    <a:pt x="0" y="208661"/>
                  </a:lnTo>
                  <a:lnTo>
                    <a:pt x="5506" y="256528"/>
                  </a:lnTo>
                  <a:lnTo>
                    <a:pt x="21195" y="300457"/>
                  </a:lnTo>
                  <a:lnTo>
                    <a:pt x="45816" y="339199"/>
                  </a:lnTo>
                  <a:lnTo>
                    <a:pt x="78122" y="371505"/>
                  </a:lnTo>
                  <a:lnTo>
                    <a:pt x="116864" y="396126"/>
                  </a:lnTo>
                  <a:lnTo>
                    <a:pt x="160793" y="411815"/>
                  </a:lnTo>
                  <a:lnTo>
                    <a:pt x="208661" y="417321"/>
                  </a:lnTo>
                  <a:lnTo>
                    <a:pt x="256488" y="411815"/>
                  </a:lnTo>
                  <a:lnTo>
                    <a:pt x="300402" y="396126"/>
                  </a:lnTo>
                  <a:lnTo>
                    <a:pt x="339146" y="371505"/>
                  </a:lnTo>
                  <a:lnTo>
                    <a:pt x="371465" y="339199"/>
                  </a:lnTo>
                  <a:lnTo>
                    <a:pt x="396104" y="300457"/>
                  </a:lnTo>
                  <a:lnTo>
                    <a:pt x="411808" y="256528"/>
                  </a:lnTo>
                  <a:lnTo>
                    <a:pt x="417322" y="208661"/>
                  </a:lnTo>
                  <a:lnTo>
                    <a:pt x="411808" y="160833"/>
                  </a:lnTo>
                  <a:lnTo>
                    <a:pt x="396104" y="116919"/>
                  </a:lnTo>
                  <a:lnTo>
                    <a:pt x="371465" y="78175"/>
                  </a:lnTo>
                  <a:lnTo>
                    <a:pt x="339146" y="45856"/>
                  </a:lnTo>
                  <a:lnTo>
                    <a:pt x="300402" y="21217"/>
                  </a:lnTo>
                  <a:lnTo>
                    <a:pt x="256488" y="5513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3779" y="5235719"/>
              <a:ext cx="269649" cy="38338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660002" y="4713604"/>
              <a:ext cx="22860" cy="556895"/>
            </a:xfrm>
            <a:custGeom>
              <a:avLst/>
              <a:gdLst/>
              <a:ahLst/>
              <a:cxnLst/>
              <a:rect l="l" t="t" r="r" b="b"/>
              <a:pathLst>
                <a:path w="22859" h="556895">
                  <a:moveTo>
                    <a:pt x="17779" y="0"/>
                  </a:moveTo>
                  <a:lnTo>
                    <a:pt x="5079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551307"/>
                  </a:lnTo>
                  <a:lnTo>
                    <a:pt x="5079" y="556387"/>
                  </a:lnTo>
                  <a:lnTo>
                    <a:pt x="17779" y="556387"/>
                  </a:lnTo>
                  <a:lnTo>
                    <a:pt x="22860" y="551307"/>
                  </a:lnTo>
                  <a:lnTo>
                    <a:pt x="22860" y="5080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D2C5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62772" y="5218811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60" y="0"/>
                  </a:moveTo>
                  <a:lnTo>
                    <a:pt x="160793" y="5513"/>
                  </a:lnTo>
                  <a:lnTo>
                    <a:pt x="116864" y="21217"/>
                  </a:lnTo>
                  <a:lnTo>
                    <a:pt x="78122" y="45856"/>
                  </a:lnTo>
                  <a:lnTo>
                    <a:pt x="45816" y="78175"/>
                  </a:lnTo>
                  <a:lnTo>
                    <a:pt x="21195" y="116919"/>
                  </a:lnTo>
                  <a:lnTo>
                    <a:pt x="5506" y="160833"/>
                  </a:lnTo>
                  <a:lnTo>
                    <a:pt x="0" y="208661"/>
                  </a:lnTo>
                  <a:lnTo>
                    <a:pt x="5506" y="256528"/>
                  </a:lnTo>
                  <a:lnTo>
                    <a:pt x="21195" y="300457"/>
                  </a:lnTo>
                  <a:lnTo>
                    <a:pt x="45816" y="339199"/>
                  </a:lnTo>
                  <a:lnTo>
                    <a:pt x="78122" y="371505"/>
                  </a:lnTo>
                  <a:lnTo>
                    <a:pt x="116864" y="396126"/>
                  </a:lnTo>
                  <a:lnTo>
                    <a:pt x="160793" y="411815"/>
                  </a:lnTo>
                  <a:lnTo>
                    <a:pt x="208660" y="417321"/>
                  </a:lnTo>
                  <a:lnTo>
                    <a:pt x="256488" y="411815"/>
                  </a:lnTo>
                  <a:lnTo>
                    <a:pt x="300402" y="396126"/>
                  </a:lnTo>
                  <a:lnTo>
                    <a:pt x="339146" y="371505"/>
                  </a:lnTo>
                  <a:lnTo>
                    <a:pt x="371465" y="339199"/>
                  </a:lnTo>
                  <a:lnTo>
                    <a:pt x="396104" y="300457"/>
                  </a:lnTo>
                  <a:lnTo>
                    <a:pt x="411808" y="256528"/>
                  </a:lnTo>
                  <a:lnTo>
                    <a:pt x="417322" y="208661"/>
                  </a:lnTo>
                  <a:lnTo>
                    <a:pt x="411808" y="160833"/>
                  </a:lnTo>
                  <a:lnTo>
                    <a:pt x="396104" y="116919"/>
                  </a:lnTo>
                  <a:lnTo>
                    <a:pt x="371465" y="78175"/>
                  </a:lnTo>
                  <a:lnTo>
                    <a:pt x="339146" y="45856"/>
                  </a:lnTo>
                  <a:lnTo>
                    <a:pt x="300402" y="21217"/>
                  </a:lnTo>
                  <a:lnTo>
                    <a:pt x="256488" y="5513"/>
                  </a:lnTo>
                  <a:lnTo>
                    <a:pt x="208660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9783" y="5235776"/>
              <a:ext cx="383305" cy="38337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612772" y="3771341"/>
            <a:ext cx="3241675" cy="755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6D6666"/>
                </a:solidFill>
                <a:latin typeface="Times New Roman"/>
                <a:cs typeface="Times New Roman"/>
              </a:rPr>
              <a:t>Gathering</a:t>
            </a:r>
            <a:r>
              <a:rPr sz="2400" spc="-80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6D6666"/>
                </a:solidFill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20"/>
              </a:spcBef>
            </a:pP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Searching</a:t>
            </a:r>
            <a:r>
              <a:rPr sz="1200" spc="15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Kaggle</a:t>
            </a:r>
            <a:r>
              <a:rPr sz="1200" spc="19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for</a:t>
            </a:r>
            <a:r>
              <a:rPr sz="1200" spc="2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appropriate</a:t>
            </a:r>
            <a:r>
              <a:rPr sz="1200" spc="19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dataset.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88404" y="3376421"/>
            <a:ext cx="4742180" cy="1327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6D6666"/>
                </a:solidFill>
                <a:latin typeface="Times New Roman"/>
                <a:cs typeface="Times New Roman"/>
              </a:rPr>
              <a:t>Model</a:t>
            </a:r>
            <a:r>
              <a:rPr sz="2000" spc="-5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6D6666"/>
                </a:solidFill>
                <a:latin typeface="Times New Roman"/>
                <a:cs typeface="Times New Roman"/>
              </a:rPr>
              <a:t>Training</a:t>
            </a:r>
            <a:endParaRPr sz="2000">
              <a:latin typeface="Times New Roman"/>
              <a:cs typeface="Times New Roman"/>
            </a:endParaRPr>
          </a:p>
          <a:p>
            <a:pPr marL="12700" marR="5080" indent="-2540" algn="ctr">
              <a:lnSpc>
                <a:spcPct val="159700"/>
              </a:lnSpc>
              <a:spcBef>
                <a:spcPts val="950"/>
              </a:spcBef>
            </a:pP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Training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 multiple</a:t>
            </a:r>
            <a:r>
              <a:rPr sz="120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models</a:t>
            </a:r>
            <a:r>
              <a:rPr sz="12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on the</a:t>
            </a:r>
            <a:r>
              <a:rPr sz="12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dataset</a:t>
            </a:r>
            <a:r>
              <a:rPr sz="120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2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see</a:t>
            </a:r>
            <a:r>
              <a:rPr sz="120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which </a:t>
            </a: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model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performs</a:t>
            </a:r>
            <a:r>
              <a:rPr sz="120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best</a:t>
            </a:r>
            <a:r>
              <a:rPr sz="120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20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gives</a:t>
            </a:r>
            <a:r>
              <a:rPr sz="120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20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most</a:t>
            </a:r>
            <a:r>
              <a:rPr sz="120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accurate</a:t>
            </a:r>
            <a:r>
              <a:rPr sz="120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salary</a:t>
            </a:r>
            <a:r>
              <a:rPr sz="120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predictions </a:t>
            </a:r>
            <a:r>
              <a:rPr sz="120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20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saving</a:t>
            </a:r>
            <a:r>
              <a:rPr sz="120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20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model.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175492" y="5218810"/>
            <a:ext cx="417830" cy="965200"/>
            <a:chOff x="11175492" y="5218810"/>
            <a:chExt cx="417830" cy="965200"/>
          </a:xfrm>
        </p:grpSpPr>
        <p:sp>
          <p:nvSpPr>
            <p:cNvPr id="20" name="object 20"/>
            <p:cNvSpPr/>
            <p:nvPr/>
          </p:nvSpPr>
          <p:spPr>
            <a:xfrm>
              <a:off x="11372723" y="5627369"/>
              <a:ext cx="22860" cy="556895"/>
            </a:xfrm>
            <a:custGeom>
              <a:avLst/>
              <a:gdLst/>
              <a:ahLst/>
              <a:cxnLst/>
              <a:rect l="l" t="t" r="r" b="b"/>
              <a:pathLst>
                <a:path w="22859" h="556895">
                  <a:moveTo>
                    <a:pt x="17779" y="0"/>
                  </a:moveTo>
                  <a:lnTo>
                    <a:pt x="5079" y="0"/>
                  </a:lnTo>
                  <a:lnTo>
                    <a:pt x="0" y="5206"/>
                  </a:lnTo>
                  <a:lnTo>
                    <a:pt x="0" y="11429"/>
                  </a:lnTo>
                  <a:lnTo>
                    <a:pt x="0" y="551306"/>
                  </a:lnTo>
                  <a:lnTo>
                    <a:pt x="5079" y="556386"/>
                  </a:lnTo>
                  <a:lnTo>
                    <a:pt x="17779" y="556386"/>
                  </a:lnTo>
                  <a:lnTo>
                    <a:pt x="22859" y="551306"/>
                  </a:lnTo>
                  <a:lnTo>
                    <a:pt x="22859" y="5206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D2C5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175492" y="5218810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60" y="0"/>
                  </a:moveTo>
                  <a:lnTo>
                    <a:pt x="160793" y="5513"/>
                  </a:lnTo>
                  <a:lnTo>
                    <a:pt x="116864" y="21217"/>
                  </a:lnTo>
                  <a:lnTo>
                    <a:pt x="78122" y="45856"/>
                  </a:lnTo>
                  <a:lnTo>
                    <a:pt x="45816" y="78175"/>
                  </a:lnTo>
                  <a:lnTo>
                    <a:pt x="21195" y="116919"/>
                  </a:lnTo>
                  <a:lnTo>
                    <a:pt x="5506" y="160833"/>
                  </a:lnTo>
                  <a:lnTo>
                    <a:pt x="0" y="208661"/>
                  </a:lnTo>
                  <a:lnTo>
                    <a:pt x="5506" y="256528"/>
                  </a:lnTo>
                  <a:lnTo>
                    <a:pt x="21195" y="300457"/>
                  </a:lnTo>
                  <a:lnTo>
                    <a:pt x="45816" y="339199"/>
                  </a:lnTo>
                  <a:lnTo>
                    <a:pt x="78122" y="371505"/>
                  </a:lnTo>
                  <a:lnTo>
                    <a:pt x="116864" y="396126"/>
                  </a:lnTo>
                  <a:lnTo>
                    <a:pt x="160793" y="411815"/>
                  </a:lnTo>
                  <a:lnTo>
                    <a:pt x="208660" y="417321"/>
                  </a:lnTo>
                  <a:lnTo>
                    <a:pt x="256488" y="411815"/>
                  </a:lnTo>
                  <a:lnTo>
                    <a:pt x="300402" y="396126"/>
                  </a:lnTo>
                  <a:lnTo>
                    <a:pt x="339146" y="371505"/>
                  </a:lnTo>
                  <a:lnTo>
                    <a:pt x="371465" y="339199"/>
                  </a:lnTo>
                  <a:lnTo>
                    <a:pt x="396104" y="300457"/>
                  </a:lnTo>
                  <a:lnTo>
                    <a:pt x="411808" y="256528"/>
                  </a:lnTo>
                  <a:lnTo>
                    <a:pt x="417322" y="208661"/>
                  </a:lnTo>
                  <a:lnTo>
                    <a:pt x="411808" y="160833"/>
                  </a:lnTo>
                  <a:lnTo>
                    <a:pt x="396104" y="116919"/>
                  </a:lnTo>
                  <a:lnTo>
                    <a:pt x="371465" y="78175"/>
                  </a:lnTo>
                  <a:lnTo>
                    <a:pt x="339146" y="45856"/>
                  </a:lnTo>
                  <a:lnTo>
                    <a:pt x="300402" y="21217"/>
                  </a:lnTo>
                  <a:lnTo>
                    <a:pt x="256488" y="5513"/>
                  </a:lnTo>
                  <a:lnTo>
                    <a:pt x="208660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206320" y="5244174"/>
              <a:ext cx="356235" cy="367030"/>
            </a:xfrm>
            <a:custGeom>
              <a:avLst/>
              <a:gdLst/>
              <a:ahLst/>
              <a:cxnLst/>
              <a:rect l="l" t="t" r="r" b="b"/>
              <a:pathLst>
                <a:path w="356234" h="367029">
                  <a:moveTo>
                    <a:pt x="276043" y="2666"/>
                  </a:moveTo>
                  <a:lnTo>
                    <a:pt x="337775" y="0"/>
                  </a:lnTo>
                </a:path>
                <a:path w="356234" h="367029">
                  <a:moveTo>
                    <a:pt x="337775" y="0"/>
                  </a:moveTo>
                  <a:lnTo>
                    <a:pt x="171018" y="168263"/>
                  </a:lnTo>
                </a:path>
                <a:path w="356234" h="367029">
                  <a:moveTo>
                    <a:pt x="171018" y="168263"/>
                  </a:moveTo>
                  <a:lnTo>
                    <a:pt x="118111" y="120105"/>
                  </a:lnTo>
                </a:path>
                <a:path w="356234" h="367029">
                  <a:moveTo>
                    <a:pt x="11346" y="227250"/>
                  </a:moveTo>
                  <a:lnTo>
                    <a:pt x="118111" y="120105"/>
                  </a:lnTo>
                </a:path>
                <a:path w="356234" h="367029">
                  <a:moveTo>
                    <a:pt x="338197" y="58080"/>
                  </a:moveTo>
                  <a:lnTo>
                    <a:pt x="337775" y="0"/>
                  </a:lnTo>
                </a:path>
                <a:path w="356234" h="367029">
                  <a:moveTo>
                    <a:pt x="88412" y="264536"/>
                  </a:moveTo>
                  <a:lnTo>
                    <a:pt x="23344" y="264699"/>
                  </a:lnTo>
                </a:path>
                <a:path w="356234" h="367029">
                  <a:moveTo>
                    <a:pt x="88802" y="366555"/>
                  </a:moveTo>
                  <a:lnTo>
                    <a:pt x="88412" y="264536"/>
                  </a:lnTo>
                </a:path>
                <a:path w="356234" h="367029">
                  <a:moveTo>
                    <a:pt x="0" y="366575"/>
                  </a:moveTo>
                  <a:lnTo>
                    <a:pt x="355690" y="366569"/>
                  </a:lnTo>
                </a:path>
                <a:path w="356234" h="367029">
                  <a:moveTo>
                    <a:pt x="23344" y="264699"/>
                  </a:moveTo>
                  <a:lnTo>
                    <a:pt x="22811" y="366586"/>
                  </a:lnTo>
                </a:path>
                <a:path w="356234" h="367029">
                  <a:moveTo>
                    <a:pt x="212133" y="213215"/>
                  </a:moveTo>
                  <a:lnTo>
                    <a:pt x="145953" y="213208"/>
                  </a:lnTo>
                </a:path>
                <a:path w="356234" h="367029">
                  <a:moveTo>
                    <a:pt x="212207" y="366564"/>
                  </a:moveTo>
                  <a:lnTo>
                    <a:pt x="212133" y="213215"/>
                  </a:lnTo>
                </a:path>
                <a:path w="356234" h="367029">
                  <a:moveTo>
                    <a:pt x="145953" y="213208"/>
                  </a:moveTo>
                  <a:lnTo>
                    <a:pt x="145933" y="366541"/>
                  </a:lnTo>
                </a:path>
                <a:path w="356234" h="367029">
                  <a:moveTo>
                    <a:pt x="335271" y="124839"/>
                  </a:moveTo>
                  <a:lnTo>
                    <a:pt x="269309" y="124991"/>
                  </a:lnTo>
                </a:path>
                <a:path w="356234" h="367029">
                  <a:moveTo>
                    <a:pt x="335271" y="124839"/>
                  </a:moveTo>
                  <a:lnTo>
                    <a:pt x="335336" y="366544"/>
                  </a:lnTo>
                </a:path>
                <a:path w="356234" h="367029">
                  <a:moveTo>
                    <a:pt x="269309" y="124991"/>
                  </a:moveTo>
                  <a:lnTo>
                    <a:pt x="269247" y="366582"/>
                  </a:lnTo>
                </a:path>
              </a:pathLst>
            </a:custGeom>
            <a:ln w="16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224009" y="6114415"/>
            <a:ext cx="429704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solidFill>
                  <a:srgbClr val="6D6666"/>
                </a:solidFill>
                <a:latin typeface="Times New Roman"/>
                <a:cs typeface="Times New Roman"/>
              </a:rPr>
              <a:t>Creating</a:t>
            </a:r>
            <a:r>
              <a:rPr sz="2000" spc="-55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D6666"/>
                </a:solidFill>
                <a:latin typeface="Times New Roman"/>
                <a:cs typeface="Times New Roman"/>
              </a:rPr>
              <a:t>a</a:t>
            </a:r>
            <a:r>
              <a:rPr sz="2000" spc="-50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6D6666"/>
                </a:solidFill>
                <a:latin typeface="Times New Roman"/>
                <a:cs typeface="Times New Roman"/>
              </a:rPr>
              <a:t>GUI</a:t>
            </a:r>
            <a:endParaRPr sz="2000" dirty="0">
              <a:latin typeface="Times New Roman"/>
              <a:cs typeface="Times New Roman"/>
            </a:endParaRPr>
          </a:p>
          <a:p>
            <a:pPr marL="12700" marR="5080" algn="ctr">
              <a:lnSpc>
                <a:spcPct val="159200"/>
              </a:lnSpc>
              <a:spcBef>
                <a:spcPts val="960"/>
              </a:spcBef>
            </a:pP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Creating</a:t>
            </a:r>
            <a:r>
              <a:rPr sz="120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145" dirty="0">
                <a:solidFill>
                  <a:srgbClr val="6D6666"/>
                </a:solidFill>
                <a:latin typeface="Lucida Sans Unicode"/>
                <a:cs typeface="Lucida Sans Unicode"/>
              </a:rPr>
              <a:t>a</a:t>
            </a:r>
            <a:r>
              <a:rPr sz="12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simple</a:t>
            </a:r>
            <a:r>
              <a:rPr sz="120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streamlit</a:t>
            </a:r>
            <a:r>
              <a:rPr sz="120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gui</a:t>
            </a:r>
            <a:r>
              <a:rPr sz="12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for</a:t>
            </a:r>
            <a:r>
              <a:rPr sz="120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taking</a:t>
            </a: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user</a:t>
            </a:r>
            <a:r>
              <a:rPr sz="120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input </a:t>
            </a:r>
            <a:r>
              <a:rPr sz="120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and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predicting</a:t>
            </a:r>
            <a:r>
              <a:rPr sz="1200" spc="1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salary.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98211" y="6073521"/>
            <a:ext cx="2030730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D6666"/>
                </a:solidFill>
                <a:latin typeface="Times New Roman"/>
                <a:cs typeface="Times New Roman"/>
              </a:rPr>
              <a:t>Data</a:t>
            </a:r>
            <a:r>
              <a:rPr sz="2000" spc="5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6D6666"/>
                </a:solidFill>
                <a:latin typeface="Times New Roman"/>
                <a:cs typeface="Times New Roman"/>
              </a:rPr>
              <a:t>Pre-</a:t>
            </a:r>
            <a:r>
              <a:rPr sz="2000" spc="-10" dirty="0">
                <a:solidFill>
                  <a:srgbClr val="6D6666"/>
                </a:solidFill>
                <a:latin typeface="Times New Roman"/>
                <a:cs typeface="Times New Roman"/>
              </a:rPr>
              <a:t>processing</a:t>
            </a:r>
            <a:endParaRPr sz="2000">
              <a:latin typeface="Times New Roman"/>
              <a:cs typeface="Times New Roman"/>
            </a:endParaRPr>
          </a:p>
          <a:p>
            <a:pPr marR="34290" algn="ctr">
              <a:lnSpc>
                <a:spcPct val="100000"/>
              </a:lnSpc>
              <a:spcBef>
                <a:spcPts val="1685"/>
              </a:spcBef>
            </a:pPr>
            <a:r>
              <a:rPr sz="12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Cleaning</a:t>
            </a:r>
            <a:r>
              <a:rPr sz="120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200" spc="10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data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15332" y="7011416"/>
            <a:ext cx="2395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Encoding</a:t>
            </a:r>
            <a:r>
              <a:rPr sz="120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Categorical</a:t>
            </a:r>
            <a:r>
              <a:rPr sz="1200" spc="9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Columns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83684" y="7430516"/>
            <a:ext cx="2858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Splitting</a:t>
            </a:r>
            <a:r>
              <a:rPr sz="1200" spc="-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into</a:t>
            </a:r>
            <a:r>
              <a:rPr sz="120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training</a:t>
            </a:r>
            <a:r>
              <a:rPr sz="1200" spc="-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20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testing</a:t>
            </a:r>
            <a:r>
              <a:rPr sz="120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sets</a:t>
            </a:r>
            <a:endParaRPr sz="12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92031" y="3286363"/>
            <a:ext cx="5555487" cy="333708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0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Dataset</a:t>
            </a:r>
            <a:r>
              <a:rPr spc="-270" dirty="0"/>
              <a:t> </a:t>
            </a:r>
            <a:r>
              <a:rPr spc="-70" dirty="0"/>
              <a:t>Characteristics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6523" y="1807514"/>
            <a:ext cx="13354685" cy="1193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32100"/>
              </a:lnSpc>
              <a:spcBef>
                <a:spcPts val="90"/>
              </a:spcBef>
            </a:pPr>
            <a:r>
              <a:rPr sz="145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This</a:t>
            </a:r>
            <a:r>
              <a:rPr sz="14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Kaggle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dataset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 comprises</a:t>
            </a:r>
            <a:r>
              <a:rPr sz="14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approximately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2500</a:t>
            </a:r>
            <a:r>
              <a:rPr sz="14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records</a:t>
            </a:r>
            <a:r>
              <a:rPr sz="145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across</a:t>
            </a:r>
            <a:r>
              <a:rPr sz="14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key</a:t>
            </a:r>
            <a:r>
              <a:rPr sz="14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6</a:t>
            </a:r>
            <a:r>
              <a:rPr sz="14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features,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sourced</a:t>
            </a:r>
            <a:r>
              <a:rPr sz="14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from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public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compensation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80" dirty="0">
                <a:solidFill>
                  <a:srgbClr val="6D6666"/>
                </a:solidFill>
                <a:latin typeface="Lucida Sans Unicode"/>
                <a:cs typeface="Lucida Sans Unicode"/>
              </a:rPr>
              <a:t>databases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4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survey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data.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accompanying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correlation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90" dirty="0">
                <a:solidFill>
                  <a:srgbClr val="6D6666"/>
                </a:solidFill>
                <a:latin typeface="Lucida Sans Unicode"/>
                <a:cs typeface="Lucida Sans Unicode"/>
              </a:rPr>
              <a:t>heatmap</a:t>
            </a:r>
            <a:r>
              <a:rPr sz="1450" spc="-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shows</a:t>
            </a:r>
            <a:r>
              <a:rPr sz="14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relationships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between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these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features,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helping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in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identification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of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most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influential </a:t>
            </a:r>
            <a:r>
              <a:rPr sz="14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variables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for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salary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prediction.</a:t>
            </a:r>
            <a:endParaRPr sz="1450" dirty="0">
              <a:latin typeface="Lucida Sans Unicode"/>
              <a:cs typeface="Lucida Sans Unicode"/>
            </a:endParaRPr>
          </a:p>
          <a:p>
            <a:pPr marL="12700" algn="just">
              <a:lnSpc>
                <a:spcPct val="100000"/>
              </a:lnSpc>
              <a:spcBef>
                <a:spcPts val="565"/>
              </a:spcBef>
            </a:pP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Below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are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 the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key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columns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in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our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dataset:</a:t>
            </a:r>
            <a:endParaRPr sz="1450" dirty="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3150" y="3246120"/>
            <a:ext cx="417830" cy="417830"/>
            <a:chOff x="823150" y="3246120"/>
            <a:chExt cx="417830" cy="417830"/>
          </a:xfrm>
        </p:grpSpPr>
        <p:sp>
          <p:nvSpPr>
            <p:cNvPr id="6" name="object 6"/>
            <p:cNvSpPr/>
            <p:nvPr/>
          </p:nvSpPr>
          <p:spPr>
            <a:xfrm>
              <a:off x="823150" y="3246120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30" h="417829">
                  <a:moveTo>
                    <a:pt x="208661" y="0"/>
                  </a:moveTo>
                  <a:lnTo>
                    <a:pt x="160817" y="5513"/>
                  </a:lnTo>
                  <a:lnTo>
                    <a:pt x="116897" y="21217"/>
                  </a:lnTo>
                  <a:lnTo>
                    <a:pt x="78154" y="45856"/>
                  </a:lnTo>
                  <a:lnTo>
                    <a:pt x="45840" y="78175"/>
                  </a:lnTo>
                  <a:lnTo>
                    <a:pt x="21208" y="116919"/>
                  </a:lnTo>
                  <a:lnTo>
                    <a:pt x="5510" y="160833"/>
                  </a:lnTo>
                  <a:lnTo>
                    <a:pt x="0" y="208660"/>
                  </a:lnTo>
                  <a:lnTo>
                    <a:pt x="5510" y="256488"/>
                  </a:lnTo>
                  <a:lnTo>
                    <a:pt x="21208" y="300402"/>
                  </a:lnTo>
                  <a:lnTo>
                    <a:pt x="45840" y="339146"/>
                  </a:lnTo>
                  <a:lnTo>
                    <a:pt x="78154" y="371465"/>
                  </a:lnTo>
                  <a:lnTo>
                    <a:pt x="116897" y="396104"/>
                  </a:lnTo>
                  <a:lnTo>
                    <a:pt x="160817" y="411808"/>
                  </a:lnTo>
                  <a:lnTo>
                    <a:pt x="208661" y="417321"/>
                  </a:lnTo>
                  <a:lnTo>
                    <a:pt x="256504" y="411808"/>
                  </a:lnTo>
                  <a:lnTo>
                    <a:pt x="300422" y="396104"/>
                  </a:lnTo>
                  <a:lnTo>
                    <a:pt x="339162" y="371465"/>
                  </a:lnTo>
                  <a:lnTo>
                    <a:pt x="371473" y="339146"/>
                  </a:lnTo>
                  <a:lnTo>
                    <a:pt x="396103" y="300402"/>
                  </a:lnTo>
                  <a:lnTo>
                    <a:pt x="411799" y="256488"/>
                  </a:lnTo>
                  <a:lnTo>
                    <a:pt x="417322" y="208660"/>
                  </a:lnTo>
                  <a:lnTo>
                    <a:pt x="411811" y="160833"/>
                  </a:lnTo>
                  <a:lnTo>
                    <a:pt x="396113" y="116919"/>
                  </a:lnTo>
                  <a:lnTo>
                    <a:pt x="371481" y="78175"/>
                  </a:lnTo>
                  <a:lnTo>
                    <a:pt x="339167" y="45856"/>
                  </a:lnTo>
                  <a:lnTo>
                    <a:pt x="300424" y="21217"/>
                  </a:lnTo>
                  <a:lnTo>
                    <a:pt x="256504" y="5513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8319" y="3286764"/>
              <a:ext cx="367665" cy="336550"/>
            </a:xfrm>
            <a:custGeom>
              <a:avLst/>
              <a:gdLst/>
              <a:ahLst/>
              <a:cxnLst/>
              <a:rect l="l" t="t" r="r" b="b"/>
              <a:pathLst>
                <a:path w="367665" h="336550">
                  <a:moveTo>
                    <a:pt x="154600" y="189539"/>
                  </a:moveTo>
                  <a:lnTo>
                    <a:pt x="181749" y="164692"/>
                  </a:lnTo>
                  <a:lnTo>
                    <a:pt x="200631" y="164725"/>
                  </a:lnTo>
                  <a:lnTo>
                    <a:pt x="212073" y="204746"/>
                  </a:lnTo>
                  <a:lnTo>
                    <a:pt x="212020" y="212002"/>
                  </a:lnTo>
                  <a:lnTo>
                    <a:pt x="211542" y="214519"/>
                  </a:lnTo>
                </a:path>
                <a:path w="367665" h="336550">
                  <a:moveTo>
                    <a:pt x="365479" y="150033"/>
                  </a:moveTo>
                  <a:lnTo>
                    <a:pt x="335045" y="183407"/>
                  </a:lnTo>
                  <a:lnTo>
                    <a:pt x="301656" y="192524"/>
                  </a:lnTo>
                  <a:lnTo>
                    <a:pt x="292256" y="192768"/>
                  </a:lnTo>
                </a:path>
                <a:path w="367665" h="336550">
                  <a:moveTo>
                    <a:pt x="252553" y="60499"/>
                  </a:moveTo>
                  <a:lnTo>
                    <a:pt x="248391" y="21100"/>
                  </a:lnTo>
                  <a:lnTo>
                    <a:pt x="216618" y="162"/>
                  </a:lnTo>
                  <a:lnTo>
                    <a:pt x="213366" y="0"/>
                  </a:lnTo>
                </a:path>
                <a:path w="367665" h="336550">
                  <a:moveTo>
                    <a:pt x="211542" y="214519"/>
                  </a:moveTo>
                  <a:lnTo>
                    <a:pt x="175559" y="229962"/>
                  </a:lnTo>
                  <a:lnTo>
                    <a:pt x="171878" y="229546"/>
                  </a:lnTo>
                  <a:lnTo>
                    <a:pt x="154700" y="202097"/>
                  </a:lnTo>
                  <a:lnTo>
                    <a:pt x="154600" y="189539"/>
                  </a:lnTo>
                </a:path>
                <a:path w="367665" h="336550">
                  <a:moveTo>
                    <a:pt x="62116" y="192475"/>
                  </a:moveTo>
                  <a:lnTo>
                    <a:pt x="21837" y="175536"/>
                  </a:lnTo>
                  <a:lnTo>
                    <a:pt x="11695" y="163529"/>
                  </a:lnTo>
                  <a:lnTo>
                    <a:pt x="1394" y="148176"/>
                  </a:lnTo>
                </a:path>
                <a:path w="367665" h="336550">
                  <a:moveTo>
                    <a:pt x="366779" y="297163"/>
                  </a:moveTo>
                  <a:lnTo>
                    <a:pt x="346490" y="332530"/>
                  </a:lnTo>
                  <a:lnTo>
                    <a:pt x="333224" y="335753"/>
                  </a:lnTo>
                  <a:lnTo>
                    <a:pt x="318430" y="335869"/>
                  </a:lnTo>
                </a:path>
                <a:path w="367665" h="336550">
                  <a:moveTo>
                    <a:pt x="40679" y="336036"/>
                  </a:moveTo>
                  <a:lnTo>
                    <a:pt x="4760" y="318927"/>
                  </a:lnTo>
                  <a:lnTo>
                    <a:pt x="84" y="296067"/>
                  </a:lnTo>
                  <a:lnTo>
                    <a:pt x="64" y="286206"/>
                  </a:lnTo>
                </a:path>
                <a:path w="367665" h="336550">
                  <a:moveTo>
                    <a:pt x="367039" y="90196"/>
                  </a:moveTo>
                  <a:lnTo>
                    <a:pt x="341028" y="60580"/>
                  </a:lnTo>
                  <a:lnTo>
                    <a:pt x="330396" y="60489"/>
                  </a:lnTo>
                </a:path>
                <a:path w="367665" h="336550">
                  <a:moveTo>
                    <a:pt x="31364" y="60457"/>
                  </a:moveTo>
                  <a:lnTo>
                    <a:pt x="271" y="85801"/>
                  </a:lnTo>
                  <a:lnTo>
                    <a:pt x="72" y="91747"/>
                  </a:lnTo>
                  <a:lnTo>
                    <a:pt x="56" y="100448"/>
                  </a:lnTo>
                </a:path>
                <a:path w="367665" h="336550">
                  <a:moveTo>
                    <a:pt x="151345" y="32"/>
                  </a:moveTo>
                  <a:lnTo>
                    <a:pt x="130295" y="6405"/>
                  </a:lnTo>
                  <a:lnTo>
                    <a:pt x="127050" y="8908"/>
                  </a:lnTo>
                </a:path>
                <a:path w="367665" h="336550">
                  <a:moveTo>
                    <a:pt x="127050" y="8908"/>
                  </a:moveTo>
                  <a:lnTo>
                    <a:pt x="114923" y="36414"/>
                  </a:lnTo>
                  <a:lnTo>
                    <a:pt x="114968" y="60493"/>
                  </a:lnTo>
                </a:path>
                <a:path w="367665" h="336550">
                  <a:moveTo>
                    <a:pt x="154597" y="192816"/>
                  </a:moveTo>
                  <a:lnTo>
                    <a:pt x="62116" y="192475"/>
                  </a:lnTo>
                </a:path>
                <a:path w="367665" h="336550">
                  <a:moveTo>
                    <a:pt x="366974" y="147939"/>
                  </a:moveTo>
                  <a:lnTo>
                    <a:pt x="366779" y="297163"/>
                  </a:lnTo>
                </a:path>
                <a:path w="367665" h="336550">
                  <a:moveTo>
                    <a:pt x="365479" y="150033"/>
                  </a:moveTo>
                  <a:lnTo>
                    <a:pt x="367039" y="90196"/>
                  </a:lnTo>
                </a:path>
                <a:path w="367665" h="336550">
                  <a:moveTo>
                    <a:pt x="292256" y="192768"/>
                  </a:moveTo>
                  <a:lnTo>
                    <a:pt x="212160" y="192878"/>
                  </a:lnTo>
                </a:path>
                <a:path w="367665" h="336550">
                  <a:moveTo>
                    <a:pt x="64" y="286206"/>
                  </a:moveTo>
                  <a:lnTo>
                    <a:pt x="0" y="146092"/>
                  </a:lnTo>
                </a:path>
                <a:path w="367665" h="336550">
                  <a:moveTo>
                    <a:pt x="330396" y="60489"/>
                  </a:moveTo>
                  <a:lnTo>
                    <a:pt x="31364" y="60457"/>
                  </a:lnTo>
                </a:path>
                <a:path w="367665" h="336550">
                  <a:moveTo>
                    <a:pt x="56" y="100448"/>
                  </a:moveTo>
                  <a:lnTo>
                    <a:pt x="1394" y="148176"/>
                  </a:lnTo>
                </a:path>
                <a:path w="367665" h="336550">
                  <a:moveTo>
                    <a:pt x="213366" y="0"/>
                  </a:moveTo>
                  <a:lnTo>
                    <a:pt x="151345" y="32"/>
                  </a:lnTo>
                </a:path>
              </a:pathLst>
            </a:custGeom>
            <a:ln w="162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8171" y="3280917"/>
            <a:ext cx="3051810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6080" algn="l"/>
                <a:tab pos="557530" algn="l"/>
              </a:tabLst>
            </a:pPr>
            <a:r>
              <a:rPr sz="2600" u="sng" dirty="0">
                <a:solidFill>
                  <a:srgbClr val="6D666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600" u="none" dirty="0">
                <a:solidFill>
                  <a:srgbClr val="6D6666"/>
                </a:solidFill>
                <a:latin typeface="Times New Roman"/>
                <a:cs typeface="Times New Roman"/>
              </a:rPr>
              <a:t>	Job</a:t>
            </a:r>
            <a:r>
              <a:rPr sz="2600" u="none" spc="-80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600" u="none" spc="-10" dirty="0">
                <a:solidFill>
                  <a:srgbClr val="6D6666"/>
                </a:solidFill>
                <a:latin typeface="Times New Roman"/>
                <a:cs typeface="Times New Roman"/>
              </a:rPr>
              <a:t>Title</a:t>
            </a:r>
            <a:endParaRPr sz="2600">
              <a:latin typeface="Times New Roman"/>
              <a:cs typeface="Times New Roman"/>
            </a:endParaRPr>
          </a:p>
          <a:p>
            <a:pPr marL="557530">
              <a:lnSpc>
                <a:spcPct val="100000"/>
              </a:lnSpc>
              <a:spcBef>
                <a:spcPts val="1440"/>
              </a:spcBef>
            </a:pP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Diverse</a:t>
            </a:r>
            <a:r>
              <a:rPr sz="11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roles</a:t>
            </a:r>
            <a:r>
              <a:rPr sz="11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across</a:t>
            </a:r>
            <a:r>
              <a:rPr sz="11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departments.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61814" y="3246120"/>
            <a:ext cx="417830" cy="417830"/>
            <a:chOff x="4861814" y="3246120"/>
            <a:chExt cx="417830" cy="417830"/>
          </a:xfrm>
        </p:grpSpPr>
        <p:sp>
          <p:nvSpPr>
            <p:cNvPr id="10" name="object 10"/>
            <p:cNvSpPr/>
            <p:nvPr/>
          </p:nvSpPr>
          <p:spPr>
            <a:xfrm>
              <a:off x="4861814" y="3246120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61" y="0"/>
                  </a:moveTo>
                  <a:lnTo>
                    <a:pt x="160833" y="5513"/>
                  </a:lnTo>
                  <a:lnTo>
                    <a:pt x="116919" y="21217"/>
                  </a:lnTo>
                  <a:lnTo>
                    <a:pt x="78175" y="45856"/>
                  </a:lnTo>
                  <a:lnTo>
                    <a:pt x="45856" y="78175"/>
                  </a:lnTo>
                  <a:lnTo>
                    <a:pt x="21217" y="116919"/>
                  </a:lnTo>
                  <a:lnTo>
                    <a:pt x="5513" y="160833"/>
                  </a:lnTo>
                  <a:lnTo>
                    <a:pt x="0" y="208660"/>
                  </a:lnTo>
                  <a:lnTo>
                    <a:pt x="5513" y="256488"/>
                  </a:lnTo>
                  <a:lnTo>
                    <a:pt x="21217" y="300402"/>
                  </a:lnTo>
                  <a:lnTo>
                    <a:pt x="45856" y="339146"/>
                  </a:lnTo>
                  <a:lnTo>
                    <a:pt x="78175" y="371465"/>
                  </a:lnTo>
                  <a:lnTo>
                    <a:pt x="116919" y="396104"/>
                  </a:lnTo>
                  <a:lnTo>
                    <a:pt x="160833" y="411808"/>
                  </a:lnTo>
                  <a:lnTo>
                    <a:pt x="208661" y="417321"/>
                  </a:lnTo>
                  <a:lnTo>
                    <a:pt x="256528" y="411808"/>
                  </a:lnTo>
                  <a:lnTo>
                    <a:pt x="300457" y="396104"/>
                  </a:lnTo>
                  <a:lnTo>
                    <a:pt x="339199" y="371465"/>
                  </a:lnTo>
                  <a:lnTo>
                    <a:pt x="371505" y="339146"/>
                  </a:lnTo>
                  <a:lnTo>
                    <a:pt x="396126" y="300402"/>
                  </a:lnTo>
                  <a:lnTo>
                    <a:pt x="411815" y="256488"/>
                  </a:lnTo>
                  <a:lnTo>
                    <a:pt x="417322" y="208660"/>
                  </a:lnTo>
                  <a:lnTo>
                    <a:pt x="411815" y="160833"/>
                  </a:lnTo>
                  <a:lnTo>
                    <a:pt x="396126" y="116919"/>
                  </a:lnTo>
                  <a:lnTo>
                    <a:pt x="371505" y="78175"/>
                  </a:lnTo>
                  <a:lnTo>
                    <a:pt x="339199" y="45856"/>
                  </a:lnTo>
                  <a:lnTo>
                    <a:pt x="300457" y="21217"/>
                  </a:lnTo>
                  <a:lnTo>
                    <a:pt x="256528" y="5513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96576" y="3271093"/>
              <a:ext cx="347980" cy="367665"/>
            </a:xfrm>
            <a:custGeom>
              <a:avLst/>
              <a:gdLst/>
              <a:ahLst/>
              <a:cxnLst/>
              <a:rect l="l" t="t" r="r" b="b"/>
              <a:pathLst>
                <a:path w="347979" h="367664">
                  <a:moveTo>
                    <a:pt x="280324" y="40218"/>
                  </a:moveTo>
                  <a:lnTo>
                    <a:pt x="320606" y="41193"/>
                  </a:lnTo>
                  <a:lnTo>
                    <a:pt x="347561" y="71176"/>
                  </a:lnTo>
                  <a:lnTo>
                    <a:pt x="347788" y="86848"/>
                  </a:lnTo>
                </a:path>
                <a:path w="347979" h="367664">
                  <a:moveTo>
                    <a:pt x="67082" y="45745"/>
                  </a:moveTo>
                  <a:lnTo>
                    <a:pt x="83121" y="74090"/>
                  </a:lnTo>
                  <a:lnTo>
                    <a:pt x="87390" y="73553"/>
                  </a:lnTo>
                  <a:lnTo>
                    <a:pt x="98816" y="58744"/>
                  </a:lnTo>
                  <a:lnTo>
                    <a:pt x="99053" y="53223"/>
                  </a:lnTo>
                </a:path>
                <a:path w="347979" h="367664">
                  <a:moveTo>
                    <a:pt x="248366" y="46428"/>
                  </a:moveTo>
                  <a:lnTo>
                    <a:pt x="264340" y="74223"/>
                  </a:lnTo>
                  <a:lnTo>
                    <a:pt x="268170" y="73794"/>
                  </a:lnTo>
                  <a:lnTo>
                    <a:pt x="280148" y="29160"/>
                  </a:lnTo>
                  <a:lnTo>
                    <a:pt x="279992" y="15541"/>
                  </a:lnTo>
                  <a:lnTo>
                    <a:pt x="265637" y="97"/>
                  </a:lnTo>
                  <a:lnTo>
                    <a:pt x="263007" y="97"/>
                  </a:lnTo>
                  <a:lnTo>
                    <a:pt x="248366" y="46428"/>
                  </a:lnTo>
                </a:path>
                <a:path w="347979" h="367664">
                  <a:moveTo>
                    <a:pt x="347723" y="326053"/>
                  </a:moveTo>
                  <a:lnTo>
                    <a:pt x="328702" y="362036"/>
                  </a:lnTo>
                  <a:lnTo>
                    <a:pt x="303471" y="367156"/>
                  </a:lnTo>
                  <a:lnTo>
                    <a:pt x="291961" y="367181"/>
                  </a:lnTo>
                </a:path>
                <a:path w="347979" h="367664">
                  <a:moveTo>
                    <a:pt x="40755" y="367176"/>
                  </a:moveTo>
                  <a:lnTo>
                    <a:pt x="5988" y="348816"/>
                  </a:lnTo>
                  <a:lnTo>
                    <a:pt x="322" y="325582"/>
                  </a:lnTo>
                  <a:lnTo>
                    <a:pt x="125" y="315666"/>
                  </a:lnTo>
                </a:path>
                <a:path w="347979" h="367664">
                  <a:moveTo>
                    <a:pt x="41" y="75475"/>
                  </a:moveTo>
                  <a:lnTo>
                    <a:pt x="25606" y="41681"/>
                  </a:lnTo>
                  <a:lnTo>
                    <a:pt x="49936" y="40259"/>
                  </a:lnTo>
                  <a:lnTo>
                    <a:pt x="67153" y="40250"/>
                  </a:lnTo>
                </a:path>
                <a:path w="347979" h="367664">
                  <a:moveTo>
                    <a:pt x="98513" y="13330"/>
                  </a:moveTo>
                  <a:lnTo>
                    <a:pt x="83979" y="0"/>
                  </a:lnTo>
                  <a:lnTo>
                    <a:pt x="80451" y="227"/>
                  </a:lnTo>
                  <a:lnTo>
                    <a:pt x="67281" y="32120"/>
                  </a:lnTo>
                  <a:lnTo>
                    <a:pt x="67082" y="45745"/>
                  </a:lnTo>
                </a:path>
                <a:path w="347979" h="367664">
                  <a:moveTo>
                    <a:pt x="347821" y="117744"/>
                  </a:moveTo>
                  <a:lnTo>
                    <a:pt x="12" y="117705"/>
                  </a:lnTo>
                </a:path>
                <a:path w="347979" h="367664">
                  <a:moveTo>
                    <a:pt x="0" y="112204"/>
                  </a:moveTo>
                  <a:lnTo>
                    <a:pt x="41" y="75475"/>
                  </a:lnTo>
                </a:path>
                <a:path w="347979" h="367664">
                  <a:moveTo>
                    <a:pt x="248372" y="40218"/>
                  </a:moveTo>
                  <a:lnTo>
                    <a:pt x="99121" y="40218"/>
                  </a:lnTo>
                </a:path>
                <a:path w="347979" h="367664">
                  <a:moveTo>
                    <a:pt x="173966" y="245975"/>
                  </a:moveTo>
                  <a:lnTo>
                    <a:pt x="173956" y="176118"/>
                  </a:lnTo>
                </a:path>
                <a:path w="347979" h="367664">
                  <a:moveTo>
                    <a:pt x="112787" y="238243"/>
                  </a:moveTo>
                  <a:lnTo>
                    <a:pt x="234469" y="238230"/>
                  </a:lnTo>
                </a:path>
                <a:path w="347979" h="367664">
                  <a:moveTo>
                    <a:pt x="173966" y="245975"/>
                  </a:moveTo>
                  <a:lnTo>
                    <a:pt x="173986" y="299731"/>
                  </a:lnTo>
                </a:path>
                <a:path w="347979" h="367664">
                  <a:moveTo>
                    <a:pt x="347788" y="86848"/>
                  </a:moveTo>
                  <a:lnTo>
                    <a:pt x="347723" y="326053"/>
                  </a:lnTo>
                </a:path>
                <a:path w="347979" h="367664">
                  <a:moveTo>
                    <a:pt x="291961" y="367181"/>
                  </a:moveTo>
                  <a:lnTo>
                    <a:pt x="40755" y="367176"/>
                  </a:lnTo>
                </a:path>
                <a:path w="347979" h="367664">
                  <a:moveTo>
                    <a:pt x="125" y="315666"/>
                  </a:moveTo>
                  <a:lnTo>
                    <a:pt x="0" y="112204"/>
                  </a:lnTo>
                </a:path>
                <a:path w="347979" h="367664">
                  <a:moveTo>
                    <a:pt x="99053" y="53223"/>
                  </a:moveTo>
                  <a:lnTo>
                    <a:pt x="98513" y="13330"/>
                  </a:lnTo>
                </a:path>
              </a:pathLst>
            </a:custGeom>
            <a:ln w="162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52364" y="3280917"/>
            <a:ext cx="3151505" cy="1021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5" dirty="0">
                <a:solidFill>
                  <a:srgbClr val="6D6666"/>
                </a:solidFill>
                <a:latin typeface="Times New Roman"/>
                <a:cs typeface="Times New Roman"/>
              </a:rPr>
              <a:t>Years</a:t>
            </a:r>
            <a:r>
              <a:rPr sz="2600" spc="-145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Experience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37400"/>
              </a:lnSpc>
              <a:spcBef>
                <a:spcPts val="925"/>
              </a:spcBef>
            </a:pP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Professional</a:t>
            </a:r>
            <a:r>
              <a:rPr sz="11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experience</a:t>
            </a:r>
            <a:r>
              <a:rPr sz="11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from</a:t>
            </a:r>
            <a:r>
              <a:rPr sz="115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entry-level</a:t>
            </a:r>
            <a:r>
              <a:rPr sz="11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to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senior</a:t>
            </a:r>
            <a:r>
              <a:rPr sz="11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(0-</a:t>
            </a:r>
            <a:r>
              <a:rPr sz="1150" spc="-175" dirty="0">
                <a:solidFill>
                  <a:srgbClr val="6D6666"/>
                </a:solidFill>
                <a:latin typeface="Lucida Sans Unicode"/>
                <a:cs typeface="Lucida Sans Unicode"/>
              </a:rPr>
              <a:t>15+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years).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23150" y="4682997"/>
            <a:ext cx="417830" cy="417830"/>
            <a:chOff x="823150" y="4682997"/>
            <a:chExt cx="417830" cy="417830"/>
          </a:xfrm>
        </p:grpSpPr>
        <p:sp>
          <p:nvSpPr>
            <p:cNvPr id="14" name="object 14"/>
            <p:cNvSpPr/>
            <p:nvPr/>
          </p:nvSpPr>
          <p:spPr>
            <a:xfrm>
              <a:off x="823150" y="4682997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30" h="417829">
                  <a:moveTo>
                    <a:pt x="208661" y="0"/>
                  </a:moveTo>
                  <a:lnTo>
                    <a:pt x="160817" y="5506"/>
                  </a:lnTo>
                  <a:lnTo>
                    <a:pt x="116897" y="21195"/>
                  </a:lnTo>
                  <a:lnTo>
                    <a:pt x="78154" y="45816"/>
                  </a:lnTo>
                  <a:lnTo>
                    <a:pt x="45840" y="78122"/>
                  </a:lnTo>
                  <a:lnTo>
                    <a:pt x="21208" y="116864"/>
                  </a:lnTo>
                  <a:lnTo>
                    <a:pt x="5510" y="160793"/>
                  </a:lnTo>
                  <a:lnTo>
                    <a:pt x="0" y="208661"/>
                  </a:lnTo>
                  <a:lnTo>
                    <a:pt x="5510" y="256488"/>
                  </a:lnTo>
                  <a:lnTo>
                    <a:pt x="21208" y="300402"/>
                  </a:lnTo>
                  <a:lnTo>
                    <a:pt x="45840" y="339146"/>
                  </a:lnTo>
                  <a:lnTo>
                    <a:pt x="78154" y="371465"/>
                  </a:lnTo>
                  <a:lnTo>
                    <a:pt x="116897" y="396104"/>
                  </a:lnTo>
                  <a:lnTo>
                    <a:pt x="160817" y="411808"/>
                  </a:lnTo>
                  <a:lnTo>
                    <a:pt x="208661" y="417321"/>
                  </a:lnTo>
                  <a:lnTo>
                    <a:pt x="256504" y="411808"/>
                  </a:lnTo>
                  <a:lnTo>
                    <a:pt x="300422" y="396104"/>
                  </a:lnTo>
                  <a:lnTo>
                    <a:pt x="339162" y="371465"/>
                  </a:lnTo>
                  <a:lnTo>
                    <a:pt x="371473" y="339146"/>
                  </a:lnTo>
                  <a:lnTo>
                    <a:pt x="396103" y="300402"/>
                  </a:lnTo>
                  <a:lnTo>
                    <a:pt x="411799" y="256488"/>
                  </a:lnTo>
                  <a:lnTo>
                    <a:pt x="417322" y="208661"/>
                  </a:lnTo>
                  <a:lnTo>
                    <a:pt x="411811" y="160793"/>
                  </a:lnTo>
                  <a:lnTo>
                    <a:pt x="396113" y="116864"/>
                  </a:lnTo>
                  <a:lnTo>
                    <a:pt x="371481" y="78122"/>
                  </a:lnTo>
                  <a:lnTo>
                    <a:pt x="339167" y="45816"/>
                  </a:lnTo>
                  <a:lnTo>
                    <a:pt x="300424" y="21195"/>
                  </a:lnTo>
                  <a:lnTo>
                    <a:pt x="256504" y="5506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0191" y="4752807"/>
              <a:ext cx="383295" cy="27766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413128" y="4718050"/>
            <a:ext cx="3194050" cy="1021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Education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37400"/>
              </a:lnSpc>
              <a:spcBef>
                <a:spcPts val="925"/>
              </a:spcBef>
            </a:pP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Educational</a:t>
            </a:r>
            <a:r>
              <a:rPr sz="11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backgrounds,</a:t>
            </a:r>
            <a:r>
              <a:rPr sz="11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from high</a:t>
            </a:r>
            <a:r>
              <a:rPr sz="11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school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150" spc="-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PhD.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861814" y="4682997"/>
            <a:ext cx="417830" cy="417830"/>
            <a:chOff x="4861814" y="4682997"/>
            <a:chExt cx="417830" cy="417830"/>
          </a:xfrm>
        </p:grpSpPr>
        <p:sp>
          <p:nvSpPr>
            <p:cNvPr id="18" name="object 18"/>
            <p:cNvSpPr/>
            <p:nvPr/>
          </p:nvSpPr>
          <p:spPr>
            <a:xfrm>
              <a:off x="4861814" y="4682997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61" y="0"/>
                  </a:moveTo>
                  <a:lnTo>
                    <a:pt x="160833" y="5506"/>
                  </a:lnTo>
                  <a:lnTo>
                    <a:pt x="116919" y="21195"/>
                  </a:lnTo>
                  <a:lnTo>
                    <a:pt x="78175" y="45816"/>
                  </a:lnTo>
                  <a:lnTo>
                    <a:pt x="45856" y="78122"/>
                  </a:lnTo>
                  <a:lnTo>
                    <a:pt x="21217" y="116864"/>
                  </a:lnTo>
                  <a:lnTo>
                    <a:pt x="5513" y="160793"/>
                  </a:lnTo>
                  <a:lnTo>
                    <a:pt x="0" y="208661"/>
                  </a:lnTo>
                  <a:lnTo>
                    <a:pt x="5513" y="256488"/>
                  </a:lnTo>
                  <a:lnTo>
                    <a:pt x="21217" y="300402"/>
                  </a:lnTo>
                  <a:lnTo>
                    <a:pt x="45856" y="339146"/>
                  </a:lnTo>
                  <a:lnTo>
                    <a:pt x="78175" y="371465"/>
                  </a:lnTo>
                  <a:lnTo>
                    <a:pt x="116919" y="396104"/>
                  </a:lnTo>
                  <a:lnTo>
                    <a:pt x="160833" y="411808"/>
                  </a:lnTo>
                  <a:lnTo>
                    <a:pt x="208661" y="417321"/>
                  </a:lnTo>
                  <a:lnTo>
                    <a:pt x="256528" y="411808"/>
                  </a:lnTo>
                  <a:lnTo>
                    <a:pt x="300457" y="396104"/>
                  </a:lnTo>
                  <a:lnTo>
                    <a:pt x="339199" y="371465"/>
                  </a:lnTo>
                  <a:lnTo>
                    <a:pt x="371505" y="339146"/>
                  </a:lnTo>
                  <a:lnTo>
                    <a:pt x="396126" y="300402"/>
                  </a:lnTo>
                  <a:lnTo>
                    <a:pt x="411815" y="256488"/>
                  </a:lnTo>
                  <a:lnTo>
                    <a:pt x="417322" y="208661"/>
                  </a:lnTo>
                  <a:lnTo>
                    <a:pt x="411815" y="160793"/>
                  </a:lnTo>
                  <a:lnTo>
                    <a:pt x="396126" y="116864"/>
                  </a:lnTo>
                  <a:lnTo>
                    <a:pt x="371505" y="78122"/>
                  </a:lnTo>
                  <a:lnTo>
                    <a:pt x="339199" y="45816"/>
                  </a:lnTo>
                  <a:lnTo>
                    <a:pt x="300457" y="21195"/>
                  </a:lnTo>
                  <a:lnTo>
                    <a:pt x="256528" y="5506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8950" y="4700042"/>
              <a:ext cx="343070" cy="38325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916662" y="5075105"/>
              <a:ext cx="257810" cy="635"/>
            </a:xfrm>
            <a:custGeom>
              <a:avLst/>
              <a:gdLst/>
              <a:ahLst/>
              <a:cxnLst/>
              <a:rect l="l" t="t" r="r" b="b"/>
              <a:pathLst>
                <a:path w="257810" h="635">
                  <a:moveTo>
                    <a:pt x="257735" y="64"/>
                  </a:moveTo>
                  <a:lnTo>
                    <a:pt x="0" y="0"/>
                  </a:lnTo>
                </a:path>
              </a:pathLst>
            </a:custGeom>
            <a:ln w="16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452364" y="4718050"/>
            <a:ext cx="2761615" cy="1021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5" dirty="0">
                <a:solidFill>
                  <a:srgbClr val="6D6666"/>
                </a:solidFill>
                <a:latin typeface="Times New Roman"/>
                <a:cs typeface="Times New Roman"/>
              </a:rPr>
              <a:t>Age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37400"/>
              </a:lnSpc>
              <a:spcBef>
                <a:spcPts val="925"/>
              </a:spcBef>
            </a:pP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Age</a:t>
            </a:r>
            <a:r>
              <a:rPr sz="1150" spc="10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demographics,</a:t>
            </a:r>
            <a:r>
              <a:rPr sz="11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spanning</a:t>
            </a:r>
            <a:r>
              <a:rPr sz="1150" spc="114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various working</a:t>
            </a:r>
            <a:r>
              <a:rPr sz="1150" spc="-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90" dirty="0">
                <a:solidFill>
                  <a:srgbClr val="6D6666"/>
                </a:solidFill>
                <a:latin typeface="Lucida Sans Unicode"/>
                <a:cs typeface="Lucida Sans Unicode"/>
              </a:rPr>
              <a:t>age</a:t>
            </a:r>
            <a:r>
              <a:rPr sz="115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groups.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23150" y="6119748"/>
            <a:ext cx="417830" cy="417830"/>
            <a:chOff x="823150" y="6119748"/>
            <a:chExt cx="417830" cy="417830"/>
          </a:xfrm>
        </p:grpSpPr>
        <p:sp>
          <p:nvSpPr>
            <p:cNvPr id="23" name="object 23"/>
            <p:cNvSpPr/>
            <p:nvPr/>
          </p:nvSpPr>
          <p:spPr>
            <a:xfrm>
              <a:off x="823150" y="6119748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30" h="417829">
                  <a:moveTo>
                    <a:pt x="208661" y="0"/>
                  </a:moveTo>
                  <a:lnTo>
                    <a:pt x="160817" y="5513"/>
                  </a:lnTo>
                  <a:lnTo>
                    <a:pt x="116897" y="21217"/>
                  </a:lnTo>
                  <a:lnTo>
                    <a:pt x="78154" y="45856"/>
                  </a:lnTo>
                  <a:lnTo>
                    <a:pt x="45840" y="78175"/>
                  </a:lnTo>
                  <a:lnTo>
                    <a:pt x="21208" y="116919"/>
                  </a:lnTo>
                  <a:lnTo>
                    <a:pt x="5510" y="160833"/>
                  </a:lnTo>
                  <a:lnTo>
                    <a:pt x="0" y="208661"/>
                  </a:lnTo>
                  <a:lnTo>
                    <a:pt x="5510" y="256528"/>
                  </a:lnTo>
                  <a:lnTo>
                    <a:pt x="21208" y="300457"/>
                  </a:lnTo>
                  <a:lnTo>
                    <a:pt x="45840" y="339199"/>
                  </a:lnTo>
                  <a:lnTo>
                    <a:pt x="78154" y="371505"/>
                  </a:lnTo>
                  <a:lnTo>
                    <a:pt x="116897" y="396126"/>
                  </a:lnTo>
                  <a:lnTo>
                    <a:pt x="160817" y="411815"/>
                  </a:lnTo>
                  <a:lnTo>
                    <a:pt x="208661" y="417321"/>
                  </a:lnTo>
                  <a:lnTo>
                    <a:pt x="256504" y="411815"/>
                  </a:lnTo>
                  <a:lnTo>
                    <a:pt x="300422" y="396126"/>
                  </a:lnTo>
                  <a:lnTo>
                    <a:pt x="339162" y="371505"/>
                  </a:lnTo>
                  <a:lnTo>
                    <a:pt x="371473" y="339199"/>
                  </a:lnTo>
                  <a:lnTo>
                    <a:pt x="396103" y="300457"/>
                  </a:lnTo>
                  <a:lnTo>
                    <a:pt x="411799" y="256528"/>
                  </a:lnTo>
                  <a:lnTo>
                    <a:pt x="417322" y="208661"/>
                  </a:lnTo>
                  <a:lnTo>
                    <a:pt x="411811" y="160833"/>
                  </a:lnTo>
                  <a:lnTo>
                    <a:pt x="396113" y="116919"/>
                  </a:lnTo>
                  <a:lnTo>
                    <a:pt x="371481" y="78175"/>
                  </a:lnTo>
                  <a:lnTo>
                    <a:pt x="339167" y="45856"/>
                  </a:lnTo>
                  <a:lnTo>
                    <a:pt x="300424" y="21217"/>
                  </a:lnTo>
                  <a:lnTo>
                    <a:pt x="256504" y="5513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571" y="6136913"/>
              <a:ext cx="360506" cy="38325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413128" y="6155182"/>
            <a:ext cx="2820670" cy="102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Gender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37400"/>
              </a:lnSpc>
              <a:spcBef>
                <a:spcPts val="930"/>
              </a:spcBef>
            </a:pPr>
            <a:r>
              <a:rPr sz="11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Demographic</a:t>
            </a:r>
            <a:r>
              <a:rPr sz="11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information</a:t>
            </a:r>
            <a:r>
              <a:rPr sz="11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1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gender distribution.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1814" y="6119748"/>
            <a:ext cx="417830" cy="417830"/>
            <a:chOff x="4861814" y="6119748"/>
            <a:chExt cx="417830" cy="417830"/>
          </a:xfrm>
        </p:grpSpPr>
        <p:sp>
          <p:nvSpPr>
            <p:cNvPr id="27" name="object 27"/>
            <p:cNvSpPr/>
            <p:nvPr/>
          </p:nvSpPr>
          <p:spPr>
            <a:xfrm>
              <a:off x="4861814" y="6119748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61" y="0"/>
                  </a:moveTo>
                  <a:lnTo>
                    <a:pt x="160833" y="5513"/>
                  </a:lnTo>
                  <a:lnTo>
                    <a:pt x="116919" y="21217"/>
                  </a:lnTo>
                  <a:lnTo>
                    <a:pt x="78175" y="45856"/>
                  </a:lnTo>
                  <a:lnTo>
                    <a:pt x="45856" y="78175"/>
                  </a:lnTo>
                  <a:lnTo>
                    <a:pt x="21217" y="116919"/>
                  </a:lnTo>
                  <a:lnTo>
                    <a:pt x="5513" y="160833"/>
                  </a:lnTo>
                  <a:lnTo>
                    <a:pt x="0" y="208661"/>
                  </a:lnTo>
                  <a:lnTo>
                    <a:pt x="5513" y="256528"/>
                  </a:lnTo>
                  <a:lnTo>
                    <a:pt x="21217" y="300457"/>
                  </a:lnTo>
                  <a:lnTo>
                    <a:pt x="45856" y="339199"/>
                  </a:lnTo>
                  <a:lnTo>
                    <a:pt x="78175" y="371505"/>
                  </a:lnTo>
                  <a:lnTo>
                    <a:pt x="116919" y="396126"/>
                  </a:lnTo>
                  <a:lnTo>
                    <a:pt x="160833" y="411815"/>
                  </a:lnTo>
                  <a:lnTo>
                    <a:pt x="208661" y="417321"/>
                  </a:lnTo>
                  <a:lnTo>
                    <a:pt x="256528" y="411815"/>
                  </a:lnTo>
                  <a:lnTo>
                    <a:pt x="300457" y="396126"/>
                  </a:lnTo>
                  <a:lnTo>
                    <a:pt x="339199" y="371505"/>
                  </a:lnTo>
                  <a:lnTo>
                    <a:pt x="371505" y="339199"/>
                  </a:lnTo>
                  <a:lnTo>
                    <a:pt x="396126" y="300457"/>
                  </a:lnTo>
                  <a:lnTo>
                    <a:pt x="411815" y="256528"/>
                  </a:lnTo>
                  <a:lnTo>
                    <a:pt x="417322" y="208661"/>
                  </a:lnTo>
                  <a:lnTo>
                    <a:pt x="411815" y="160833"/>
                  </a:lnTo>
                  <a:lnTo>
                    <a:pt x="396126" y="116919"/>
                  </a:lnTo>
                  <a:lnTo>
                    <a:pt x="371505" y="78175"/>
                  </a:lnTo>
                  <a:lnTo>
                    <a:pt x="339199" y="45856"/>
                  </a:lnTo>
                  <a:lnTo>
                    <a:pt x="300457" y="21217"/>
                  </a:lnTo>
                  <a:lnTo>
                    <a:pt x="256528" y="5513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14883" y="6292211"/>
              <a:ext cx="137096" cy="10805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932363" y="6145056"/>
              <a:ext cx="276860" cy="367030"/>
            </a:xfrm>
            <a:custGeom>
              <a:avLst/>
              <a:gdLst/>
              <a:ahLst/>
              <a:cxnLst/>
              <a:rect l="l" t="t" r="r" b="b"/>
              <a:pathLst>
                <a:path w="276860" h="367029">
                  <a:moveTo>
                    <a:pt x="190687" y="262268"/>
                  </a:moveTo>
                  <a:lnTo>
                    <a:pt x="228935" y="239525"/>
                  </a:lnTo>
                  <a:lnTo>
                    <a:pt x="256983" y="206088"/>
                  </a:lnTo>
                  <a:lnTo>
                    <a:pt x="273335" y="164141"/>
                  </a:lnTo>
                  <a:lnTo>
                    <a:pt x="276243" y="137827"/>
                  </a:lnTo>
                  <a:lnTo>
                    <a:pt x="276201" y="128696"/>
                  </a:lnTo>
                  <a:lnTo>
                    <a:pt x="267294" y="85782"/>
                  </a:lnTo>
                  <a:lnTo>
                    <a:pt x="243547" y="47378"/>
                  </a:lnTo>
                  <a:lnTo>
                    <a:pt x="211161" y="20056"/>
                  </a:lnTo>
                  <a:lnTo>
                    <a:pt x="170008" y="3589"/>
                  </a:lnTo>
                  <a:lnTo>
                    <a:pt x="135222" y="0"/>
                  </a:lnTo>
                  <a:lnTo>
                    <a:pt x="126464" y="183"/>
                  </a:lnTo>
                  <a:lnTo>
                    <a:pt x="82528" y="11086"/>
                  </a:lnTo>
                  <a:lnTo>
                    <a:pt x="46326" y="34077"/>
                  </a:lnTo>
                  <a:lnTo>
                    <a:pt x="18739" y="67486"/>
                  </a:lnTo>
                  <a:lnTo>
                    <a:pt x="2555" y="108180"/>
                  </a:lnTo>
                  <a:lnTo>
                    <a:pt x="0" y="142823"/>
                  </a:lnTo>
                  <a:lnTo>
                    <a:pt x="1061" y="151699"/>
                  </a:lnTo>
                  <a:lnTo>
                    <a:pt x="13167" y="194131"/>
                  </a:lnTo>
                  <a:lnTo>
                    <a:pt x="39442" y="231607"/>
                  </a:lnTo>
                  <a:lnTo>
                    <a:pt x="72055" y="256042"/>
                  </a:lnTo>
                  <a:lnTo>
                    <a:pt x="85314" y="262190"/>
                  </a:lnTo>
                </a:path>
                <a:path w="276860" h="367029">
                  <a:moveTo>
                    <a:pt x="138072" y="266937"/>
                  </a:moveTo>
                  <a:lnTo>
                    <a:pt x="118745" y="285381"/>
                  </a:lnTo>
                  <a:lnTo>
                    <a:pt x="119197" y="288249"/>
                  </a:lnTo>
                  <a:lnTo>
                    <a:pt x="141122" y="302086"/>
                  </a:lnTo>
                  <a:lnTo>
                    <a:pt x="146906" y="304294"/>
                  </a:lnTo>
                  <a:lnTo>
                    <a:pt x="157750" y="316291"/>
                  </a:lnTo>
                  <a:lnTo>
                    <a:pt x="157652" y="320755"/>
                  </a:lnTo>
                  <a:lnTo>
                    <a:pt x="138368" y="335204"/>
                  </a:lnTo>
                  <a:lnTo>
                    <a:pt x="133436" y="334732"/>
                  </a:lnTo>
                  <a:lnTo>
                    <a:pt x="121285" y="326920"/>
                  </a:lnTo>
                  <a:lnTo>
                    <a:pt x="119831" y="322943"/>
                  </a:lnTo>
                </a:path>
                <a:path w="276860" h="367029">
                  <a:moveTo>
                    <a:pt x="102699" y="98336"/>
                  </a:moveTo>
                  <a:lnTo>
                    <a:pt x="102699" y="105989"/>
                  </a:lnTo>
                  <a:lnTo>
                    <a:pt x="96492" y="112193"/>
                  </a:lnTo>
                  <a:lnTo>
                    <a:pt x="88842" y="112193"/>
                  </a:lnTo>
                  <a:lnTo>
                    <a:pt x="81188" y="112193"/>
                  </a:lnTo>
                  <a:lnTo>
                    <a:pt x="74984" y="105989"/>
                  </a:lnTo>
                  <a:lnTo>
                    <a:pt x="74984" y="98336"/>
                  </a:lnTo>
                  <a:lnTo>
                    <a:pt x="74984" y="90685"/>
                  </a:lnTo>
                  <a:lnTo>
                    <a:pt x="81188" y="84479"/>
                  </a:lnTo>
                  <a:lnTo>
                    <a:pt x="88842" y="84479"/>
                  </a:lnTo>
                  <a:lnTo>
                    <a:pt x="96492" y="84479"/>
                  </a:lnTo>
                  <a:lnTo>
                    <a:pt x="102699" y="90685"/>
                  </a:lnTo>
                  <a:lnTo>
                    <a:pt x="102699" y="98336"/>
                  </a:lnTo>
                  <a:close/>
                </a:path>
                <a:path w="276860" h="367029">
                  <a:moveTo>
                    <a:pt x="93696" y="85093"/>
                  </a:moveTo>
                  <a:lnTo>
                    <a:pt x="95328" y="85724"/>
                  </a:lnTo>
                </a:path>
                <a:path w="276860" h="367029">
                  <a:moveTo>
                    <a:pt x="203423" y="301579"/>
                  </a:moveTo>
                  <a:lnTo>
                    <a:pt x="198284" y="327031"/>
                  </a:lnTo>
                  <a:lnTo>
                    <a:pt x="184271" y="347815"/>
                  </a:lnTo>
                  <a:lnTo>
                    <a:pt x="163486" y="361828"/>
                  </a:lnTo>
                  <a:lnTo>
                    <a:pt x="138033" y="366967"/>
                  </a:lnTo>
                  <a:lnTo>
                    <a:pt x="112580" y="361828"/>
                  </a:lnTo>
                  <a:lnTo>
                    <a:pt x="91796" y="347815"/>
                  </a:lnTo>
                  <a:lnTo>
                    <a:pt x="77782" y="327031"/>
                  </a:lnTo>
                  <a:lnTo>
                    <a:pt x="72643" y="301579"/>
                  </a:lnTo>
                  <a:lnTo>
                    <a:pt x="77782" y="276128"/>
                  </a:lnTo>
                  <a:lnTo>
                    <a:pt x="91795" y="255344"/>
                  </a:lnTo>
                  <a:lnTo>
                    <a:pt x="112580" y="241331"/>
                  </a:lnTo>
                  <a:lnTo>
                    <a:pt x="138033" y="236193"/>
                  </a:lnTo>
                  <a:lnTo>
                    <a:pt x="163486" y="241331"/>
                  </a:lnTo>
                  <a:lnTo>
                    <a:pt x="184270" y="255344"/>
                  </a:lnTo>
                  <a:lnTo>
                    <a:pt x="198284" y="276128"/>
                  </a:lnTo>
                  <a:lnTo>
                    <a:pt x="203423" y="301579"/>
                  </a:lnTo>
                  <a:close/>
                </a:path>
                <a:path w="276860" h="367029">
                  <a:moveTo>
                    <a:pt x="138225" y="219176"/>
                  </a:moveTo>
                  <a:lnTo>
                    <a:pt x="138400" y="178008"/>
                  </a:lnTo>
                </a:path>
                <a:path w="276860" h="367029">
                  <a:moveTo>
                    <a:pt x="186736" y="170712"/>
                  </a:moveTo>
                  <a:lnTo>
                    <a:pt x="186678" y="212332"/>
                  </a:lnTo>
                </a:path>
                <a:path w="276860" h="367029">
                  <a:moveTo>
                    <a:pt x="201907" y="98352"/>
                  </a:moveTo>
                  <a:lnTo>
                    <a:pt x="201907" y="106119"/>
                  </a:lnTo>
                  <a:lnTo>
                    <a:pt x="195609" y="112420"/>
                  </a:lnTo>
                  <a:lnTo>
                    <a:pt x="187842" y="112420"/>
                  </a:lnTo>
                  <a:lnTo>
                    <a:pt x="180071" y="112420"/>
                  </a:lnTo>
                  <a:lnTo>
                    <a:pt x="173773" y="106119"/>
                  </a:lnTo>
                  <a:lnTo>
                    <a:pt x="173773" y="98352"/>
                  </a:lnTo>
                  <a:lnTo>
                    <a:pt x="173773" y="90581"/>
                  </a:lnTo>
                  <a:lnTo>
                    <a:pt x="180071" y="84284"/>
                  </a:lnTo>
                  <a:lnTo>
                    <a:pt x="187842" y="84284"/>
                  </a:lnTo>
                  <a:lnTo>
                    <a:pt x="195609" y="84284"/>
                  </a:lnTo>
                  <a:lnTo>
                    <a:pt x="201907" y="90581"/>
                  </a:lnTo>
                  <a:lnTo>
                    <a:pt x="201907" y="98352"/>
                  </a:lnTo>
                  <a:close/>
                </a:path>
                <a:path w="276860" h="367029">
                  <a:moveTo>
                    <a:pt x="199303" y="90451"/>
                  </a:moveTo>
                  <a:lnTo>
                    <a:pt x="200519" y="92090"/>
                  </a:lnTo>
                </a:path>
                <a:path w="276860" h="367029">
                  <a:moveTo>
                    <a:pt x="90656" y="213011"/>
                  </a:moveTo>
                  <a:lnTo>
                    <a:pt x="90507" y="170286"/>
                  </a:lnTo>
                </a:path>
                <a:path w="276860" h="367029">
                  <a:moveTo>
                    <a:pt x="138248" y="258825"/>
                  </a:moveTo>
                  <a:lnTo>
                    <a:pt x="138072" y="266937"/>
                  </a:lnTo>
                </a:path>
                <a:path w="276860" h="367029">
                  <a:moveTo>
                    <a:pt x="138449" y="343400"/>
                  </a:moveTo>
                  <a:lnTo>
                    <a:pt x="138368" y="335204"/>
                  </a:lnTo>
                </a:path>
                <a:path w="276860" h="367029">
                  <a:moveTo>
                    <a:pt x="155916" y="278362"/>
                  </a:moveTo>
                  <a:lnTo>
                    <a:pt x="152629" y="271505"/>
                  </a:lnTo>
                  <a:lnTo>
                    <a:pt x="145680" y="267158"/>
                  </a:lnTo>
                  <a:lnTo>
                    <a:pt x="138075" y="267203"/>
                  </a:lnTo>
                </a:path>
                <a:path w="276860" h="367029">
                  <a:moveTo>
                    <a:pt x="130841" y="177728"/>
                  </a:moveTo>
                  <a:lnTo>
                    <a:pt x="113032" y="176446"/>
                  </a:lnTo>
                  <a:lnTo>
                    <a:pt x="95798" y="172263"/>
                  </a:lnTo>
                  <a:lnTo>
                    <a:pt x="79490" y="165295"/>
                  </a:lnTo>
                  <a:lnTo>
                    <a:pt x="64459" y="155659"/>
                  </a:lnTo>
                </a:path>
                <a:path w="276860" h="367029">
                  <a:moveTo>
                    <a:pt x="186681" y="212332"/>
                  </a:moveTo>
                  <a:lnTo>
                    <a:pt x="186040" y="221894"/>
                  </a:lnTo>
                  <a:lnTo>
                    <a:pt x="183493" y="231031"/>
                  </a:lnTo>
                  <a:lnTo>
                    <a:pt x="179150" y="239464"/>
                  </a:lnTo>
                  <a:lnTo>
                    <a:pt x="173119" y="246912"/>
                  </a:lnTo>
                </a:path>
              </a:pathLst>
            </a:custGeom>
            <a:ln w="162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452364" y="6155182"/>
            <a:ext cx="2983865" cy="102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Salary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37400"/>
              </a:lnSpc>
              <a:spcBef>
                <a:spcPts val="930"/>
              </a:spcBef>
            </a:pP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Target</a:t>
            </a:r>
            <a:r>
              <a:rPr sz="11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variable</a:t>
            </a:r>
            <a:r>
              <a:rPr sz="1150" spc="1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200" dirty="0">
                <a:solidFill>
                  <a:srgbClr val="6D6666"/>
                </a:solidFill>
                <a:latin typeface="Lucida Sans Unicode"/>
                <a:cs typeface="Lucida Sans Unicode"/>
              </a:rPr>
              <a:t>–</a:t>
            </a:r>
            <a:r>
              <a:rPr sz="1150" spc="1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salary</a:t>
            </a:r>
            <a:r>
              <a:rPr sz="1150" spc="1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amounts</a:t>
            </a:r>
            <a:r>
              <a:rPr sz="1150" spc="1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across different ranges.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2600940" y="7683195"/>
            <a:ext cx="2029460" cy="546735"/>
          </a:xfrm>
          <a:custGeom>
            <a:avLst/>
            <a:gdLst/>
            <a:ahLst/>
            <a:cxnLst/>
            <a:rect l="l" t="t" r="r" b="b"/>
            <a:pathLst>
              <a:path w="2029459" h="546734">
                <a:moveTo>
                  <a:pt x="2029459" y="0"/>
                </a:moveTo>
                <a:lnTo>
                  <a:pt x="0" y="0"/>
                </a:lnTo>
                <a:lnTo>
                  <a:pt x="0" y="546404"/>
                </a:lnTo>
                <a:lnTo>
                  <a:pt x="2029459" y="546404"/>
                </a:lnTo>
                <a:lnTo>
                  <a:pt x="2029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00940" y="7682865"/>
            <a:ext cx="2029460" cy="546735"/>
          </a:xfrm>
          <a:custGeom>
            <a:avLst/>
            <a:gdLst/>
            <a:ahLst/>
            <a:cxnLst/>
            <a:rect l="l" t="t" r="r" b="b"/>
            <a:pathLst>
              <a:path w="2029459" h="546734">
                <a:moveTo>
                  <a:pt x="2029459" y="0"/>
                </a:moveTo>
                <a:lnTo>
                  <a:pt x="0" y="0"/>
                </a:lnTo>
                <a:lnTo>
                  <a:pt x="0" y="546404"/>
                </a:lnTo>
                <a:lnTo>
                  <a:pt x="2029459" y="546404"/>
                </a:lnTo>
                <a:lnTo>
                  <a:pt x="2029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0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60" dirty="0"/>
              <a:t>The</a:t>
            </a:r>
            <a:r>
              <a:rPr spc="5" dirty="0"/>
              <a:t> </a:t>
            </a:r>
            <a:r>
              <a:rPr spc="-10" dirty="0"/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9183" y="1934006"/>
            <a:ext cx="13122275" cy="900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32100"/>
              </a:lnSpc>
              <a:spcBef>
                <a:spcPts val="90"/>
              </a:spcBef>
            </a:pP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My</a:t>
            </a:r>
            <a:r>
              <a:rPr sz="14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model</a:t>
            </a:r>
            <a:r>
              <a:rPr sz="14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architecture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leverages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multiple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diverse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predictive</a:t>
            </a:r>
            <a:r>
              <a:rPr sz="145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algorithms.</a:t>
            </a:r>
            <a:r>
              <a:rPr sz="145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approach</a:t>
            </a:r>
            <a:r>
              <a:rPr sz="1450" spc="-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combines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strengths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of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individual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models,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improving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overall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accuracy,</a:t>
            </a:r>
            <a:r>
              <a:rPr sz="145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robustness,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45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generalization</a:t>
            </a:r>
            <a:r>
              <a:rPr sz="145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capabilities</a:t>
            </a:r>
            <a:r>
              <a:rPr sz="145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by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reducing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individual</a:t>
            </a:r>
            <a:r>
              <a:rPr sz="145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model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biases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variances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4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deliver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more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reliable predictions.</a:t>
            </a:r>
            <a:endParaRPr sz="1450" dirty="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135" y="4177029"/>
            <a:ext cx="92621" cy="9271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14501" y="4050029"/>
            <a:ext cx="3825240" cy="1262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6D6666"/>
                </a:solidFill>
                <a:latin typeface="Times New Roman"/>
                <a:cs typeface="Times New Roman"/>
              </a:rPr>
              <a:t>Linear</a:t>
            </a:r>
            <a:r>
              <a:rPr sz="2600" spc="-85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Regressor</a:t>
            </a:r>
            <a:endParaRPr sz="26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7400"/>
              </a:lnSpc>
              <a:spcBef>
                <a:spcPts val="919"/>
              </a:spcBef>
            </a:pP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Predicts</a:t>
            </a:r>
            <a:r>
              <a:rPr sz="11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target values</a:t>
            </a:r>
            <a:r>
              <a:rPr sz="11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based</a:t>
            </a:r>
            <a:r>
              <a:rPr sz="11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on</a:t>
            </a:r>
            <a:r>
              <a:rPr sz="11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40" dirty="0">
                <a:solidFill>
                  <a:srgbClr val="6D6666"/>
                </a:solidFill>
                <a:latin typeface="Lucida Sans Unicode"/>
                <a:cs typeface="Lucida Sans Unicode"/>
              </a:rPr>
              <a:t>a</a:t>
            </a:r>
            <a:r>
              <a:rPr sz="115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linear</a:t>
            </a:r>
            <a:r>
              <a:rPr sz="115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relationship </a:t>
            </a:r>
            <a:r>
              <a:rPr sz="11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between</a:t>
            </a:r>
            <a:r>
              <a:rPr sz="115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input</a:t>
            </a:r>
            <a:r>
              <a:rPr sz="11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features</a:t>
            </a:r>
            <a:r>
              <a:rPr sz="115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output,</a:t>
            </a:r>
            <a:r>
              <a:rPr sz="11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serving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as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90" dirty="0">
                <a:solidFill>
                  <a:srgbClr val="6D6666"/>
                </a:solidFill>
                <a:latin typeface="Lucida Sans Unicode"/>
                <a:cs typeface="Lucida Sans Unicode"/>
              </a:rPr>
              <a:t>a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simple</a:t>
            </a:r>
            <a:r>
              <a:rPr sz="11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baseline.</a:t>
            </a:r>
            <a:endParaRPr sz="1150" dirty="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0423" y="4177029"/>
            <a:ext cx="92583" cy="9271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436234" y="4050029"/>
            <a:ext cx="3448050" cy="1262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6D6666"/>
                </a:solidFill>
                <a:latin typeface="Times New Roman"/>
                <a:cs typeface="Times New Roman"/>
              </a:rPr>
              <a:t>Random</a:t>
            </a:r>
            <a:r>
              <a:rPr sz="2600" spc="70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Forest</a:t>
            </a:r>
            <a:endParaRPr sz="26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7400"/>
              </a:lnSpc>
              <a:spcBef>
                <a:spcPts val="919"/>
              </a:spcBef>
            </a:pP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Uses</a:t>
            </a:r>
            <a:r>
              <a:rPr sz="11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multiple</a:t>
            </a:r>
            <a:r>
              <a:rPr sz="11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decision</a:t>
            </a:r>
            <a:r>
              <a:rPr sz="11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trees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with</a:t>
            </a:r>
            <a:r>
              <a:rPr sz="11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bootstrapped </a:t>
            </a:r>
            <a:r>
              <a:rPr sz="11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samples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1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feature</a:t>
            </a:r>
            <a:r>
              <a:rPr sz="11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randomization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1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reduce overfitting</a:t>
            </a:r>
            <a:r>
              <a:rPr sz="11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150" spc="9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capture</a:t>
            </a:r>
            <a:r>
              <a:rPr sz="11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complex</a:t>
            </a:r>
            <a:r>
              <a:rPr sz="1150" spc="9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patterns.</a:t>
            </a:r>
            <a:endParaRPr sz="1150" dirty="0">
              <a:latin typeface="Lucida Sans Unicode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91623" y="4177029"/>
            <a:ext cx="92709" cy="9271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957943" y="4050029"/>
            <a:ext cx="3764279" cy="1262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6D6666"/>
                </a:solidFill>
                <a:latin typeface="Times New Roman"/>
                <a:cs typeface="Times New Roman"/>
              </a:rPr>
              <a:t>Gradient</a:t>
            </a:r>
            <a:r>
              <a:rPr sz="2600" spc="35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Boosting</a:t>
            </a:r>
            <a:endParaRPr sz="26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7400"/>
              </a:lnSpc>
              <a:spcBef>
                <a:spcPts val="919"/>
              </a:spcBef>
            </a:pP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Iteratively</a:t>
            </a:r>
            <a:r>
              <a:rPr sz="11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trains</a:t>
            </a:r>
            <a:r>
              <a:rPr sz="11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weak</a:t>
            </a:r>
            <a:r>
              <a:rPr sz="115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models</a:t>
            </a:r>
            <a:r>
              <a:rPr sz="11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150" spc="9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address</a:t>
            </a:r>
            <a:r>
              <a:rPr sz="115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prior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mistakes,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gradually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constructing</a:t>
            </a:r>
            <a:r>
              <a:rPr sz="115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40" dirty="0">
                <a:solidFill>
                  <a:srgbClr val="6D6666"/>
                </a:solidFill>
                <a:latin typeface="Lucida Sans Unicode"/>
                <a:cs typeface="Lucida Sans Unicode"/>
              </a:rPr>
              <a:t>a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strong</a:t>
            </a:r>
            <a:r>
              <a:rPr sz="11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predictor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through</a:t>
            </a:r>
            <a:r>
              <a:rPr sz="11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optimization.</a:t>
            </a:r>
            <a:endParaRPr sz="1150" dirty="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9135" y="5787516"/>
            <a:ext cx="92621" cy="9258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14501" y="5660516"/>
            <a:ext cx="9131935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5" dirty="0">
                <a:solidFill>
                  <a:srgbClr val="6D6666"/>
                </a:solidFill>
                <a:latin typeface="Times New Roman"/>
                <a:cs typeface="Times New Roman"/>
              </a:rPr>
              <a:t>Voting</a:t>
            </a:r>
            <a:r>
              <a:rPr sz="2600" spc="-110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Classifier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Combines</a:t>
            </a:r>
            <a:r>
              <a:rPr sz="1150" spc="9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predictions</a:t>
            </a:r>
            <a:r>
              <a:rPr sz="115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from</a:t>
            </a:r>
            <a:r>
              <a:rPr sz="11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diverse</a:t>
            </a:r>
            <a:r>
              <a:rPr sz="115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models</a:t>
            </a:r>
            <a:r>
              <a:rPr sz="1150" spc="9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via</a:t>
            </a:r>
            <a:r>
              <a:rPr sz="1150" spc="10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weighted</a:t>
            </a:r>
            <a:r>
              <a:rPr sz="115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voting,</a:t>
            </a:r>
            <a:r>
              <a:rPr sz="1150" spc="9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leveraging</a:t>
            </a:r>
            <a:r>
              <a:rPr sz="115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their</a:t>
            </a:r>
            <a:r>
              <a:rPr sz="115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strengths</a:t>
            </a:r>
            <a:r>
              <a:rPr sz="11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for</a:t>
            </a:r>
            <a:r>
              <a:rPr sz="1150" spc="10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improved</a:t>
            </a:r>
            <a:r>
              <a:rPr sz="11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overall</a:t>
            </a:r>
            <a:r>
              <a:rPr sz="11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performance.</a:t>
            </a:r>
            <a:endParaRPr sz="11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36523" y="411606"/>
            <a:ext cx="7436484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Model</a:t>
            </a:r>
            <a:r>
              <a:rPr spc="-15" dirty="0"/>
              <a:t> </a:t>
            </a:r>
            <a:r>
              <a:rPr dirty="0"/>
              <a:t>Performance </a:t>
            </a:r>
            <a:r>
              <a:rPr spc="-50" dirty="0"/>
              <a:t>Metrics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523" y="1421384"/>
            <a:ext cx="7941945" cy="2430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100" spc="-55" dirty="0">
                <a:solidFill>
                  <a:srgbClr val="787878"/>
                </a:solidFill>
                <a:latin typeface="Times New Roman"/>
                <a:cs typeface="Times New Roman"/>
              </a:rPr>
              <a:t>Key</a:t>
            </a:r>
            <a:r>
              <a:rPr sz="3100" spc="-135" dirty="0">
                <a:solidFill>
                  <a:srgbClr val="787878"/>
                </a:solidFill>
                <a:latin typeface="Times New Roman"/>
                <a:cs typeface="Times New Roman"/>
              </a:rPr>
              <a:t> </a:t>
            </a:r>
            <a:r>
              <a:rPr sz="3100" spc="-10" dirty="0">
                <a:solidFill>
                  <a:srgbClr val="787878"/>
                </a:solidFill>
                <a:latin typeface="Times New Roman"/>
                <a:cs typeface="Times New Roman"/>
              </a:rPr>
              <a:t>Insights</a:t>
            </a:r>
            <a:endParaRPr sz="31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2100"/>
              </a:lnSpc>
              <a:spcBef>
                <a:spcPts val="1425"/>
              </a:spcBef>
            </a:pP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10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20" dirty="0">
                <a:solidFill>
                  <a:srgbClr val="6D6666"/>
                </a:solidFill>
                <a:latin typeface="Arial Black"/>
                <a:cs typeface="Arial Black"/>
              </a:rPr>
              <a:t>Random</a:t>
            </a:r>
            <a:r>
              <a:rPr sz="1450" spc="-55" dirty="0">
                <a:solidFill>
                  <a:srgbClr val="6D6666"/>
                </a:solidFill>
                <a:latin typeface="Arial Black"/>
                <a:cs typeface="Arial Black"/>
              </a:rPr>
              <a:t> </a:t>
            </a:r>
            <a:r>
              <a:rPr sz="1450" spc="-80" dirty="0">
                <a:solidFill>
                  <a:srgbClr val="6D6666"/>
                </a:solidFill>
                <a:latin typeface="Arial Black"/>
                <a:cs typeface="Arial Black"/>
              </a:rPr>
              <a:t>Forest</a:t>
            </a:r>
            <a:r>
              <a:rPr sz="1450" spc="50" dirty="0">
                <a:solidFill>
                  <a:srgbClr val="6D6666"/>
                </a:solidFill>
                <a:latin typeface="Arial Black"/>
                <a:cs typeface="Arial Black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model</a:t>
            </a:r>
            <a:r>
              <a:rPr sz="14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demonstrates</a:t>
            </a:r>
            <a:r>
              <a:rPr sz="14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superior</a:t>
            </a:r>
            <a:r>
              <a:rPr sz="1450" spc="8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performance,</a:t>
            </a:r>
            <a:r>
              <a:rPr sz="14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consistently</a:t>
            </a:r>
            <a:r>
              <a:rPr sz="1450" spc="50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achieving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40" dirty="0">
                <a:solidFill>
                  <a:srgbClr val="6D6666"/>
                </a:solidFill>
                <a:latin typeface="Arial Black"/>
                <a:cs typeface="Arial Black"/>
              </a:rPr>
              <a:t>highest</a:t>
            </a:r>
            <a:r>
              <a:rPr sz="1450" spc="-155" dirty="0">
                <a:solidFill>
                  <a:srgbClr val="6D6666"/>
                </a:solidFill>
                <a:latin typeface="Arial Black"/>
                <a:cs typeface="Arial Black"/>
              </a:rPr>
              <a:t> </a:t>
            </a:r>
            <a:r>
              <a:rPr sz="1450" spc="-165" dirty="0">
                <a:solidFill>
                  <a:srgbClr val="6D6666"/>
                </a:solidFill>
                <a:latin typeface="Arial Black"/>
                <a:cs typeface="Arial Black"/>
              </a:rPr>
              <a:t>R2</a:t>
            </a:r>
            <a:r>
              <a:rPr sz="1450" spc="-114" dirty="0">
                <a:solidFill>
                  <a:srgbClr val="6D6666"/>
                </a:solidFill>
                <a:latin typeface="Arial Black"/>
                <a:cs typeface="Arial Black"/>
              </a:rPr>
              <a:t> </a:t>
            </a:r>
            <a:r>
              <a:rPr sz="1450" spc="-50" dirty="0">
                <a:solidFill>
                  <a:srgbClr val="6D6666"/>
                </a:solidFill>
                <a:latin typeface="Arial Black"/>
                <a:cs typeface="Arial Black"/>
              </a:rPr>
              <a:t>score(0.9702)</a:t>
            </a:r>
            <a:r>
              <a:rPr sz="1450" spc="-140" dirty="0">
                <a:solidFill>
                  <a:srgbClr val="6D6666"/>
                </a:solidFill>
                <a:latin typeface="Arial Black"/>
                <a:cs typeface="Arial Black"/>
              </a:rPr>
              <a:t> </a:t>
            </a:r>
            <a:r>
              <a:rPr sz="1450" spc="90" dirty="0">
                <a:solidFill>
                  <a:srgbClr val="6D6666"/>
                </a:solidFill>
                <a:latin typeface="Lucida Sans Unicode"/>
                <a:cs typeface="Lucida Sans Unicode"/>
              </a:rPr>
              <a:t>among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all models.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50" dirty="0">
                <a:solidFill>
                  <a:srgbClr val="6D6666"/>
                </a:solidFill>
                <a:latin typeface="Lucida Sans Unicode"/>
                <a:cs typeface="Lucida Sans Unicode"/>
              </a:rPr>
              <a:t>This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indicates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its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strong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ability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explain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variance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in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target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variable.</a:t>
            </a:r>
            <a:r>
              <a:rPr sz="14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accompanying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scatter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plot </a:t>
            </a:r>
            <a:r>
              <a:rPr sz="14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line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chart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visually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represent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model's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accuracy,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showing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75" dirty="0">
                <a:solidFill>
                  <a:srgbClr val="6D6666"/>
                </a:solidFill>
                <a:latin typeface="Lucida Sans Unicode"/>
                <a:cs typeface="Lucida Sans Unicode"/>
              </a:rPr>
              <a:t>a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close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alignment </a:t>
            </a:r>
            <a:r>
              <a:rPr sz="14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between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actual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predicted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salary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values.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There’s</a:t>
            </a:r>
            <a:r>
              <a:rPr sz="14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also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75" dirty="0">
                <a:solidFill>
                  <a:srgbClr val="6D6666"/>
                </a:solidFill>
                <a:latin typeface="Lucida Sans Unicode"/>
                <a:cs typeface="Lucida Sans Unicode"/>
              </a:rPr>
              <a:t>a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comparison of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75" dirty="0">
                <a:solidFill>
                  <a:srgbClr val="6D6666"/>
                </a:solidFill>
                <a:latin typeface="Lucida Sans Unicode"/>
                <a:cs typeface="Lucida Sans Unicode"/>
              </a:rPr>
              <a:t>r2</a:t>
            </a:r>
            <a:r>
              <a:rPr sz="14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score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of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all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models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used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in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this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project.</a:t>
            </a:r>
            <a:endParaRPr sz="1450" dirty="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2508" y="4633521"/>
            <a:ext cx="6620732" cy="3285309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CFC0B725-756B-D2BE-86CA-80309A397DF2}"/>
              </a:ext>
            </a:extLst>
          </p:cNvPr>
          <p:cNvSpPr/>
          <p:nvPr/>
        </p:nvSpPr>
        <p:spPr>
          <a:xfrm>
            <a:off x="12600940" y="7682865"/>
            <a:ext cx="2029460" cy="546735"/>
          </a:xfrm>
          <a:custGeom>
            <a:avLst/>
            <a:gdLst/>
            <a:ahLst/>
            <a:cxnLst/>
            <a:rect l="l" t="t" r="r" b="b"/>
            <a:pathLst>
              <a:path w="2029459" h="546734">
                <a:moveTo>
                  <a:pt x="2029459" y="0"/>
                </a:moveTo>
                <a:lnTo>
                  <a:pt x="0" y="0"/>
                </a:lnTo>
                <a:lnTo>
                  <a:pt x="0" y="546404"/>
                </a:lnTo>
                <a:lnTo>
                  <a:pt x="2029459" y="546404"/>
                </a:lnTo>
                <a:lnTo>
                  <a:pt x="2029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CBDCA7-79EB-8116-FD93-2B191D9FD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4633521"/>
            <a:ext cx="5334000" cy="34488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6201F5-CB67-F180-6FB4-F71126E314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971421"/>
            <a:ext cx="5334000" cy="33307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581</Words>
  <Application>Microsoft Office PowerPoint</Application>
  <PresentationFormat>Custom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 Black</vt:lpstr>
      <vt:lpstr>Lucida Sans Unicode</vt:lpstr>
      <vt:lpstr>Times New Roman</vt:lpstr>
      <vt:lpstr>Office Theme</vt:lpstr>
      <vt:lpstr>Employee Salary Prediction</vt:lpstr>
      <vt:lpstr>Project Overview</vt:lpstr>
      <vt:lpstr>Technical Approach</vt:lpstr>
      <vt:lpstr>Dataset Characteristics</vt:lpstr>
      <vt:lpstr>The Models</vt:lpstr>
      <vt:lpstr>Model Performance Metrics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Soumasish Dasgupta</dc:creator>
  <cp:lastModifiedBy>SHUBHAMAYA MAJUMDAR</cp:lastModifiedBy>
  <cp:revision>3</cp:revision>
  <dcterms:created xsi:type="dcterms:W3CDTF">2025-11-16T11:15:10Z</dcterms:created>
  <dcterms:modified xsi:type="dcterms:W3CDTF">2025-11-16T15:08:57Z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2025-11-16T00:00:00Z</vt:filetime>
  </property>
  <property fmtid="{D5CDD505-2E9C-101B-9397-08002B2CF9AE}" pid="5" name="Producer">
    <vt:lpwstr>Microsoft® PowerPoint® 2021</vt:lpwstr>
  </property>
</Properties>
</file>